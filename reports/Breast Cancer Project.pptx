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8"/>
  </p:notesMasterIdLst>
  <p:sldIdLst>
    <p:sldId id="256" r:id="rId2"/>
    <p:sldId id="257" r:id="rId3"/>
    <p:sldId id="258" r:id="rId4"/>
    <p:sldId id="262" r:id="rId5"/>
    <p:sldId id="282" r:id="rId6"/>
    <p:sldId id="283" r:id="rId7"/>
    <p:sldId id="259" r:id="rId8"/>
    <p:sldId id="281" r:id="rId9"/>
    <p:sldId id="280" r:id="rId10"/>
    <p:sldId id="268" r:id="rId11"/>
    <p:sldId id="265" r:id="rId12"/>
    <p:sldId id="267" r:id="rId13"/>
    <p:sldId id="279" r:id="rId14"/>
    <p:sldId id="264" r:id="rId15"/>
    <p:sldId id="269" r:id="rId16"/>
    <p:sldId id="266" r:id="rId17"/>
    <p:sldId id="274" r:id="rId18"/>
    <p:sldId id="273" r:id="rId19"/>
    <p:sldId id="272" r:id="rId20"/>
    <p:sldId id="278" r:id="rId21"/>
    <p:sldId id="277" r:id="rId22"/>
    <p:sldId id="271" r:id="rId23"/>
    <p:sldId id="276" r:id="rId24"/>
    <p:sldId id="270" r:id="rId25"/>
    <p:sldId id="275" r:id="rId26"/>
    <p:sldId id="28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E1F4E4-445B-6652-AEF7-70945A075A53}" v="37" dt="2025-12-04T02:08:56.092"/>
    <p1510:client id="{5537AEA0-07F3-FCCC-B7CA-8781F32C629E}" v="108" dt="2025-12-03T05:09:28.743"/>
    <p1510:client id="{58167AFF-7054-B1F2-4555-9A709D8DE95C}" v="54" dt="2025-12-04T02:20:04.075"/>
    <p1510:client id="{65C6F7E3-20F0-589E-39A4-189E73958D1B}" v="2" dt="2025-12-04T02:52:19.946"/>
    <p1510:client id="{C0DAE04C-F8A1-4028-3285-5260DE8BFC7D}" v="525" dt="2025-12-03T05:32:02.0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438757-85B3-42E7-A81D-D9D91EF1C567}"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4DFD84AD-D4D2-4170-9F08-7BB087489F7C}">
      <dgm:prSet/>
      <dgm:spPr/>
      <dgm:t>
        <a:bodyPr/>
        <a:lstStyle/>
        <a:p>
          <a:pPr>
            <a:lnSpc>
              <a:spcPct val="100000"/>
            </a:lnSpc>
          </a:pPr>
          <a:r>
            <a:rPr lang="en-US"/>
            <a:t>Introduction</a:t>
          </a:r>
        </a:p>
      </dgm:t>
    </dgm:pt>
    <dgm:pt modelId="{7276E94E-91F1-41D8-84B5-56B9761A7B9D}" type="parTrans" cxnId="{31C03E39-9572-4D4F-9263-F906CE9F01D1}">
      <dgm:prSet/>
      <dgm:spPr/>
      <dgm:t>
        <a:bodyPr/>
        <a:lstStyle/>
        <a:p>
          <a:endParaRPr lang="en-US"/>
        </a:p>
      </dgm:t>
    </dgm:pt>
    <dgm:pt modelId="{7C9023D6-5782-4663-86CD-596177F6A7EA}" type="sibTrans" cxnId="{31C03E39-9572-4D4F-9263-F906CE9F01D1}">
      <dgm:prSet/>
      <dgm:spPr/>
      <dgm:t>
        <a:bodyPr/>
        <a:lstStyle/>
        <a:p>
          <a:pPr>
            <a:lnSpc>
              <a:spcPct val="100000"/>
            </a:lnSpc>
          </a:pPr>
          <a:endParaRPr lang="en-US"/>
        </a:p>
      </dgm:t>
    </dgm:pt>
    <dgm:pt modelId="{B3021F0C-3344-4ED6-82BF-2A6D35B8012B}">
      <dgm:prSet/>
      <dgm:spPr/>
      <dgm:t>
        <a:bodyPr/>
        <a:lstStyle/>
        <a:p>
          <a:pPr>
            <a:lnSpc>
              <a:spcPct val="100000"/>
            </a:lnSpc>
          </a:pPr>
          <a:r>
            <a:rPr lang="en-US"/>
            <a:t>Data Analysis Process</a:t>
          </a:r>
        </a:p>
      </dgm:t>
    </dgm:pt>
    <dgm:pt modelId="{1D73F01D-2A2A-4330-8EA9-000C18278118}" type="parTrans" cxnId="{6B33A2D3-FDFE-4FDB-AF6B-A7E0E7D8A76D}">
      <dgm:prSet/>
      <dgm:spPr/>
      <dgm:t>
        <a:bodyPr/>
        <a:lstStyle/>
        <a:p>
          <a:endParaRPr lang="en-US"/>
        </a:p>
      </dgm:t>
    </dgm:pt>
    <dgm:pt modelId="{67617B2F-39C7-4350-BF77-01DF20EEADA7}" type="sibTrans" cxnId="{6B33A2D3-FDFE-4FDB-AF6B-A7E0E7D8A76D}">
      <dgm:prSet/>
      <dgm:spPr/>
      <dgm:t>
        <a:bodyPr/>
        <a:lstStyle/>
        <a:p>
          <a:pPr>
            <a:lnSpc>
              <a:spcPct val="100000"/>
            </a:lnSpc>
          </a:pPr>
          <a:endParaRPr lang="en-US"/>
        </a:p>
      </dgm:t>
    </dgm:pt>
    <dgm:pt modelId="{B7104325-1B46-4DDC-B398-E63676FDD133}">
      <dgm:prSet/>
      <dgm:spPr/>
      <dgm:t>
        <a:bodyPr/>
        <a:lstStyle/>
        <a:p>
          <a:pPr>
            <a:lnSpc>
              <a:spcPct val="100000"/>
            </a:lnSpc>
          </a:pPr>
          <a:r>
            <a:rPr lang="en-US"/>
            <a:t>Findings</a:t>
          </a:r>
        </a:p>
      </dgm:t>
    </dgm:pt>
    <dgm:pt modelId="{2BA3F6F9-32FC-424D-B2BE-781E75689DAA}" type="parTrans" cxnId="{D4D1B66E-3D69-477C-BA82-B49C8B58F274}">
      <dgm:prSet/>
      <dgm:spPr/>
      <dgm:t>
        <a:bodyPr/>
        <a:lstStyle/>
        <a:p>
          <a:endParaRPr lang="en-US"/>
        </a:p>
      </dgm:t>
    </dgm:pt>
    <dgm:pt modelId="{D7C5EADA-C1B0-4B44-BA76-1CC0051C2B8D}" type="sibTrans" cxnId="{D4D1B66E-3D69-477C-BA82-B49C8B58F274}">
      <dgm:prSet/>
      <dgm:spPr/>
      <dgm:t>
        <a:bodyPr/>
        <a:lstStyle/>
        <a:p>
          <a:pPr>
            <a:lnSpc>
              <a:spcPct val="100000"/>
            </a:lnSpc>
          </a:pPr>
          <a:endParaRPr lang="en-US"/>
        </a:p>
      </dgm:t>
    </dgm:pt>
    <dgm:pt modelId="{F4B6AEA4-6FC5-4FDE-AE20-F785D1A67E76}">
      <dgm:prSet/>
      <dgm:spPr/>
      <dgm:t>
        <a:bodyPr/>
        <a:lstStyle/>
        <a:p>
          <a:pPr>
            <a:lnSpc>
              <a:spcPct val="100000"/>
            </a:lnSpc>
          </a:pPr>
          <a:r>
            <a:rPr lang="en-US"/>
            <a:t>Conclusion</a:t>
          </a:r>
        </a:p>
      </dgm:t>
    </dgm:pt>
    <dgm:pt modelId="{0EC620F0-230C-44E5-9E7C-9C1FD067911B}" type="parTrans" cxnId="{A1215A70-AACE-4E87-B6A4-740C8E1B9D06}">
      <dgm:prSet/>
      <dgm:spPr/>
      <dgm:t>
        <a:bodyPr/>
        <a:lstStyle/>
        <a:p>
          <a:endParaRPr lang="en-US"/>
        </a:p>
      </dgm:t>
    </dgm:pt>
    <dgm:pt modelId="{A6F6FB8A-A382-44C4-8D65-D85FA6F1260B}" type="sibTrans" cxnId="{A1215A70-AACE-4E87-B6A4-740C8E1B9D06}">
      <dgm:prSet/>
      <dgm:spPr/>
      <dgm:t>
        <a:bodyPr/>
        <a:lstStyle/>
        <a:p>
          <a:endParaRPr lang="en-US"/>
        </a:p>
      </dgm:t>
    </dgm:pt>
    <dgm:pt modelId="{13CCCC42-6434-407C-BEC6-25F0FEC4F981}" type="pres">
      <dgm:prSet presAssocID="{6A438757-85B3-42E7-A81D-D9D91EF1C567}" presName="root" presStyleCnt="0">
        <dgm:presLayoutVars>
          <dgm:dir/>
          <dgm:resizeHandles val="exact"/>
        </dgm:presLayoutVars>
      </dgm:prSet>
      <dgm:spPr/>
    </dgm:pt>
    <dgm:pt modelId="{52A87B86-6978-4FB7-90E7-81DE0233E83B}" type="pres">
      <dgm:prSet presAssocID="{6A438757-85B3-42E7-A81D-D9D91EF1C567}" presName="container" presStyleCnt="0">
        <dgm:presLayoutVars>
          <dgm:dir/>
          <dgm:resizeHandles val="exact"/>
        </dgm:presLayoutVars>
      </dgm:prSet>
      <dgm:spPr/>
    </dgm:pt>
    <dgm:pt modelId="{94CD6E60-1CED-4354-AA45-E3BACBED9C35}" type="pres">
      <dgm:prSet presAssocID="{4DFD84AD-D4D2-4170-9F08-7BB087489F7C}" presName="compNode" presStyleCnt="0"/>
      <dgm:spPr/>
    </dgm:pt>
    <dgm:pt modelId="{FB6A6293-398C-4C8B-B7A1-D651F3E9D0F4}" type="pres">
      <dgm:prSet presAssocID="{4DFD84AD-D4D2-4170-9F08-7BB087489F7C}" presName="iconBgRect" presStyleLbl="bgShp" presStyleIdx="0" presStyleCnt="4"/>
      <dgm:spPr/>
    </dgm:pt>
    <dgm:pt modelId="{95543841-1463-40E8-BAF4-36FD954C413D}" type="pres">
      <dgm:prSet presAssocID="{4DFD84AD-D4D2-4170-9F08-7BB087489F7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ike"/>
        </a:ext>
      </dgm:extLst>
    </dgm:pt>
    <dgm:pt modelId="{59CE750E-D110-4670-86B0-D86401AE6CFC}" type="pres">
      <dgm:prSet presAssocID="{4DFD84AD-D4D2-4170-9F08-7BB087489F7C}" presName="spaceRect" presStyleCnt="0"/>
      <dgm:spPr/>
    </dgm:pt>
    <dgm:pt modelId="{9B139E41-8A3A-45C0-95D9-41373532F01D}" type="pres">
      <dgm:prSet presAssocID="{4DFD84AD-D4D2-4170-9F08-7BB087489F7C}" presName="textRect" presStyleLbl="revTx" presStyleIdx="0" presStyleCnt="4">
        <dgm:presLayoutVars>
          <dgm:chMax val="1"/>
          <dgm:chPref val="1"/>
        </dgm:presLayoutVars>
      </dgm:prSet>
      <dgm:spPr/>
    </dgm:pt>
    <dgm:pt modelId="{C54BF48E-71B9-46F4-BE12-13A17AE26E68}" type="pres">
      <dgm:prSet presAssocID="{7C9023D6-5782-4663-86CD-596177F6A7EA}" presName="sibTrans" presStyleLbl="sibTrans2D1" presStyleIdx="0" presStyleCnt="0"/>
      <dgm:spPr/>
    </dgm:pt>
    <dgm:pt modelId="{56006B53-4DBF-46D4-A9C1-B78DD657337D}" type="pres">
      <dgm:prSet presAssocID="{B3021F0C-3344-4ED6-82BF-2A6D35B8012B}" presName="compNode" presStyleCnt="0"/>
      <dgm:spPr/>
    </dgm:pt>
    <dgm:pt modelId="{6DC6CD70-1D49-4482-9BE0-601CAA17E642}" type="pres">
      <dgm:prSet presAssocID="{B3021F0C-3344-4ED6-82BF-2A6D35B8012B}" presName="iconBgRect" presStyleLbl="bgShp" presStyleIdx="1" presStyleCnt="4"/>
      <dgm:spPr/>
    </dgm:pt>
    <dgm:pt modelId="{9961986F-10FC-46AC-81DF-1EF4074A720B}" type="pres">
      <dgm:prSet presAssocID="{B3021F0C-3344-4ED6-82BF-2A6D35B8012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est Plan"/>
        </a:ext>
      </dgm:extLst>
    </dgm:pt>
    <dgm:pt modelId="{4B0E6B91-043D-418E-83B1-D54F2951A49B}" type="pres">
      <dgm:prSet presAssocID="{B3021F0C-3344-4ED6-82BF-2A6D35B8012B}" presName="spaceRect" presStyleCnt="0"/>
      <dgm:spPr/>
    </dgm:pt>
    <dgm:pt modelId="{473C5190-71E2-465C-B32B-40D065285D5C}" type="pres">
      <dgm:prSet presAssocID="{B3021F0C-3344-4ED6-82BF-2A6D35B8012B}" presName="textRect" presStyleLbl="revTx" presStyleIdx="1" presStyleCnt="4">
        <dgm:presLayoutVars>
          <dgm:chMax val="1"/>
          <dgm:chPref val="1"/>
        </dgm:presLayoutVars>
      </dgm:prSet>
      <dgm:spPr/>
    </dgm:pt>
    <dgm:pt modelId="{1895A3F3-C4ED-4DAD-B7B1-0D420303B732}" type="pres">
      <dgm:prSet presAssocID="{67617B2F-39C7-4350-BF77-01DF20EEADA7}" presName="sibTrans" presStyleLbl="sibTrans2D1" presStyleIdx="0" presStyleCnt="0"/>
      <dgm:spPr/>
    </dgm:pt>
    <dgm:pt modelId="{E906277E-A700-4474-B6C0-D25D33659061}" type="pres">
      <dgm:prSet presAssocID="{B7104325-1B46-4DDC-B398-E63676FDD133}" presName="compNode" presStyleCnt="0"/>
      <dgm:spPr/>
    </dgm:pt>
    <dgm:pt modelId="{03B080F1-D1C2-497F-96DD-B81D8382AAF8}" type="pres">
      <dgm:prSet presAssocID="{B7104325-1B46-4DDC-B398-E63676FDD133}" presName="iconBgRect" presStyleLbl="bgShp" presStyleIdx="2" presStyleCnt="4"/>
      <dgm:spPr/>
    </dgm:pt>
    <dgm:pt modelId="{04887D71-7BB6-473F-9B73-84A1ADD4E6C0}" type="pres">
      <dgm:prSet presAssocID="{B7104325-1B46-4DDC-B398-E63676FDD13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ommunications"/>
        </a:ext>
      </dgm:extLst>
    </dgm:pt>
    <dgm:pt modelId="{9B16DFB9-D63A-4A16-8D74-733BB221AB8F}" type="pres">
      <dgm:prSet presAssocID="{B7104325-1B46-4DDC-B398-E63676FDD133}" presName="spaceRect" presStyleCnt="0"/>
      <dgm:spPr/>
    </dgm:pt>
    <dgm:pt modelId="{93CE9B29-06DA-4A95-9807-C95FAC0DCED3}" type="pres">
      <dgm:prSet presAssocID="{B7104325-1B46-4DDC-B398-E63676FDD133}" presName="textRect" presStyleLbl="revTx" presStyleIdx="2" presStyleCnt="4">
        <dgm:presLayoutVars>
          <dgm:chMax val="1"/>
          <dgm:chPref val="1"/>
        </dgm:presLayoutVars>
      </dgm:prSet>
      <dgm:spPr/>
    </dgm:pt>
    <dgm:pt modelId="{7B378FFD-D73D-4B53-92AC-8F3DEF37B79D}" type="pres">
      <dgm:prSet presAssocID="{D7C5EADA-C1B0-4B44-BA76-1CC0051C2B8D}" presName="sibTrans" presStyleLbl="sibTrans2D1" presStyleIdx="0" presStyleCnt="0"/>
      <dgm:spPr/>
    </dgm:pt>
    <dgm:pt modelId="{914DD630-15EF-4C0A-80C6-81BADA8B280D}" type="pres">
      <dgm:prSet presAssocID="{F4B6AEA4-6FC5-4FDE-AE20-F785D1A67E76}" presName="compNode" presStyleCnt="0"/>
      <dgm:spPr/>
    </dgm:pt>
    <dgm:pt modelId="{6900E4F1-9475-484B-B046-149E2B98E191}" type="pres">
      <dgm:prSet presAssocID="{F4B6AEA4-6FC5-4FDE-AE20-F785D1A67E76}" presName="iconBgRect" presStyleLbl="bgShp" presStyleIdx="3" presStyleCnt="4"/>
      <dgm:spPr/>
    </dgm:pt>
    <dgm:pt modelId="{77141E27-F9F9-4ACF-9403-6C749DF96223}" type="pres">
      <dgm:prSet presAssocID="{F4B6AEA4-6FC5-4FDE-AE20-F785D1A67E7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Flow"/>
        </a:ext>
      </dgm:extLst>
    </dgm:pt>
    <dgm:pt modelId="{BAC45DC6-E597-478F-8128-E9F137F664E4}" type="pres">
      <dgm:prSet presAssocID="{F4B6AEA4-6FC5-4FDE-AE20-F785D1A67E76}" presName="spaceRect" presStyleCnt="0"/>
      <dgm:spPr/>
    </dgm:pt>
    <dgm:pt modelId="{E66473E8-F08E-4A05-AB62-4D59CC122C32}" type="pres">
      <dgm:prSet presAssocID="{F4B6AEA4-6FC5-4FDE-AE20-F785D1A67E76}" presName="textRect" presStyleLbl="revTx" presStyleIdx="3" presStyleCnt="4">
        <dgm:presLayoutVars>
          <dgm:chMax val="1"/>
          <dgm:chPref val="1"/>
        </dgm:presLayoutVars>
      </dgm:prSet>
      <dgm:spPr/>
    </dgm:pt>
  </dgm:ptLst>
  <dgm:cxnLst>
    <dgm:cxn modelId="{DE5B652D-8A81-4DB2-942D-158B926FF803}" type="presOf" srcId="{4DFD84AD-D4D2-4170-9F08-7BB087489F7C}" destId="{9B139E41-8A3A-45C0-95D9-41373532F01D}" srcOrd="0" destOrd="0" presId="urn:microsoft.com/office/officeart/2018/2/layout/IconCircleList"/>
    <dgm:cxn modelId="{8644C931-C31A-4F48-8490-9B61FA17BCB1}" type="presOf" srcId="{D7C5EADA-C1B0-4B44-BA76-1CC0051C2B8D}" destId="{7B378FFD-D73D-4B53-92AC-8F3DEF37B79D}" srcOrd="0" destOrd="0" presId="urn:microsoft.com/office/officeart/2018/2/layout/IconCircleList"/>
    <dgm:cxn modelId="{31C03E39-9572-4D4F-9263-F906CE9F01D1}" srcId="{6A438757-85B3-42E7-A81D-D9D91EF1C567}" destId="{4DFD84AD-D4D2-4170-9F08-7BB087489F7C}" srcOrd="0" destOrd="0" parTransId="{7276E94E-91F1-41D8-84B5-56B9761A7B9D}" sibTransId="{7C9023D6-5782-4663-86CD-596177F6A7EA}"/>
    <dgm:cxn modelId="{AA030E42-ACCD-4FD9-870D-FBFEA6ED7A1A}" type="presOf" srcId="{F4B6AEA4-6FC5-4FDE-AE20-F785D1A67E76}" destId="{E66473E8-F08E-4A05-AB62-4D59CC122C32}" srcOrd="0" destOrd="0" presId="urn:microsoft.com/office/officeart/2018/2/layout/IconCircleList"/>
    <dgm:cxn modelId="{D4D1B66E-3D69-477C-BA82-B49C8B58F274}" srcId="{6A438757-85B3-42E7-A81D-D9D91EF1C567}" destId="{B7104325-1B46-4DDC-B398-E63676FDD133}" srcOrd="2" destOrd="0" parTransId="{2BA3F6F9-32FC-424D-B2BE-781E75689DAA}" sibTransId="{D7C5EADA-C1B0-4B44-BA76-1CC0051C2B8D}"/>
    <dgm:cxn modelId="{A1215A70-AACE-4E87-B6A4-740C8E1B9D06}" srcId="{6A438757-85B3-42E7-A81D-D9D91EF1C567}" destId="{F4B6AEA4-6FC5-4FDE-AE20-F785D1A67E76}" srcOrd="3" destOrd="0" parTransId="{0EC620F0-230C-44E5-9E7C-9C1FD067911B}" sibTransId="{A6F6FB8A-A382-44C4-8D65-D85FA6F1260B}"/>
    <dgm:cxn modelId="{23B517A7-7D8B-48EF-8BCA-307A0878DA1E}" type="presOf" srcId="{B3021F0C-3344-4ED6-82BF-2A6D35B8012B}" destId="{473C5190-71E2-465C-B32B-40D065285D5C}" srcOrd="0" destOrd="0" presId="urn:microsoft.com/office/officeart/2018/2/layout/IconCircleList"/>
    <dgm:cxn modelId="{570B24B4-987B-4C5E-99FB-556C67DF4643}" type="presOf" srcId="{67617B2F-39C7-4350-BF77-01DF20EEADA7}" destId="{1895A3F3-C4ED-4DAD-B7B1-0D420303B732}" srcOrd="0" destOrd="0" presId="urn:microsoft.com/office/officeart/2018/2/layout/IconCircleList"/>
    <dgm:cxn modelId="{13E0E9C0-A0B2-48DC-B18C-4AEBE521F0DA}" type="presOf" srcId="{7C9023D6-5782-4663-86CD-596177F6A7EA}" destId="{C54BF48E-71B9-46F4-BE12-13A17AE26E68}" srcOrd="0" destOrd="0" presId="urn:microsoft.com/office/officeart/2018/2/layout/IconCircleList"/>
    <dgm:cxn modelId="{6B33A2D3-FDFE-4FDB-AF6B-A7E0E7D8A76D}" srcId="{6A438757-85B3-42E7-A81D-D9D91EF1C567}" destId="{B3021F0C-3344-4ED6-82BF-2A6D35B8012B}" srcOrd="1" destOrd="0" parTransId="{1D73F01D-2A2A-4330-8EA9-000C18278118}" sibTransId="{67617B2F-39C7-4350-BF77-01DF20EEADA7}"/>
    <dgm:cxn modelId="{3A962ED7-F511-463A-BB96-88C966BC48CD}" type="presOf" srcId="{6A438757-85B3-42E7-A81D-D9D91EF1C567}" destId="{13CCCC42-6434-407C-BEC6-25F0FEC4F981}" srcOrd="0" destOrd="0" presId="urn:microsoft.com/office/officeart/2018/2/layout/IconCircleList"/>
    <dgm:cxn modelId="{07E31AE7-19D4-42D2-9ABC-9E04799ED399}" type="presOf" srcId="{B7104325-1B46-4DDC-B398-E63676FDD133}" destId="{93CE9B29-06DA-4A95-9807-C95FAC0DCED3}" srcOrd="0" destOrd="0" presId="urn:microsoft.com/office/officeart/2018/2/layout/IconCircleList"/>
    <dgm:cxn modelId="{4000DA86-BD50-498A-B41C-D6A91A310FEB}" type="presParOf" srcId="{13CCCC42-6434-407C-BEC6-25F0FEC4F981}" destId="{52A87B86-6978-4FB7-90E7-81DE0233E83B}" srcOrd="0" destOrd="0" presId="urn:microsoft.com/office/officeart/2018/2/layout/IconCircleList"/>
    <dgm:cxn modelId="{C0FD17C3-4175-4BA2-9D24-A5D0155A5BFA}" type="presParOf" srcId="{52A87B86-6978-4FB7-90E7-81DE0233E83B}" destId="{94CD6E60-1CED-4354-AA45-E3BACBED9C35}" srcOrd="0" destOrd="0" presId="urn:microsoft.com/office/officeart/2018/2/layout/IconCircleList"/>
    <dgm:cxn modelId="{D4209879-C911-4FE6-A24C-C6608D6C2051}" type="presParOf" srcId="{94CD6E60-1CED-4354-AA45-E3BACBED9C35}" destId="{FB6A6293-398C-4C8B-B7A1-D651F3E9D0F4}" srcOrd="0" destOrd="0" presId="urn:microsoft.com/office/officeart/2018/2/layout/IconCircleList"/>
    <dgm:cxn modelId="{64D329F7-2B38-4D53-AA72-FA994710A150}" type="presParOf" srcId="{94CD6E60-1CED-4354-AA45-E3BACBED9C35}" destId="{95543841-1463-40E8-BAF4-36FD954C413D}" srcOrd="1" destOrd="0" presId="urn:microsoft.com/office/officeart/2018/2/layout/IconCircleList"/>
    <dgm:cxn modelId="{2838BE01-101D-480D-8833-B46B65081985}" type="presParOf" srcId="{94CD6E60-1CED-4354-AA45-E3BACBED9C35}" destId="{59CE750E-D110-4670-86B0-D86401AE6CFC}" srcOrd="2" destOrd="0" presId="urn:microsoft.com/office/officeart/2018/2/layout/IconCircleList"/>
    <dgm:cxn modelId="{1BD7BFAA-ED36-410B-85A7-7E868E068BF0}" type="presParOf" srcId="{94CD6E60-1CED-4354-AA45-E3BACBED9C35}" destId="{9B139E41-8A3A-45C0-95D9-41373532F01D}" srcOrd="3" destOrd="0" presId="urn:microsoft.com/office/officeart/2018/2/layout/IconCircleList"/>
    <dgm:cxn modelId="{95769B5C-5D5D-4947-B13E-8B560DE5640B}" type="presParOf" srcId="{52A87B86-6978-4FB7-90E7-81DE0233E83B}" destId="{C54BF48E-71B9-46F4-BE12-13A17AE26E68}" srcOrd="1" destOrd="0" presId="urn:microsoft.com/office/officeart/2018/2/layout/IconCircleList"/>
    <dgm:cxn modelId="{B2DE8ACB-1257-4B99-8F0B-20223F115450}" type="presParOf" srcId="{52A87B86-6978-4FB7-90E7-81DE0233E83B}" destId="{56006B53-4DBF-46D4-A9C1-B78DD657337D}" srcOrd="2" destOrd="0" presId="urn:microsoft.com/office/officeart/2018/2/layout/IconCircleList"/>
    <dgm:cxn modelId="{73408436-4CBF-41C8-92AC-808836B93668}" type="presParOf" srcId="{56006B53-4DBF-46D4-A9C1-B78DD657337D}" destId="{6DC6CD70-1D49-4482-9BE0-601CAA17E642}" srcOrd="0" destOrd="0" presId="urn:microsoft.com/office/officeart/2018/2/layout/IconCircleList"/>
    <dgm:cxn modelId="{2BBBB2AF-58CE-4C26-9B49-9E3686C8D9F0}" type="presParOf" srcId="{56006B53-4DBF-46D4-A9C1-B78DD657337D}" destId="{9961986F-10FC-46AC-81DF-1EF4074A720B}" srcOrd="1" destOrd="0" presId="urn:microsoft.com/office/officeart/2018/2/layout/IconCircleList"/>
    <dgm:cxn modelId="{6C500CFA-ADEA-47EE-8E03-65CAC3F5C7D5}" type="presParOf" srcId="{56006B53-4DBF-46D4-A9C1-B78DD657337D}" destId="{4B0E6B91-043D-418E-83B1-D54F2951A49B}" srcOrd="2" destOrd="0" presId="urn:microsoft.com/office/officeart/2018/2/layout/IconCircleList"/>
    <dgm:cxn modelId="{597351B6-8B2C-48A2-9C91-7433B460C6C4}" type="presParOf" srcId="{56006B53-4DBF-46D4-A9C1-B78DD657337D}" destId="{473C5190-71E2-465C-B32B-40D065285D5C}" srcOrd="3" destOrd="0" presId="urn:microsoft.com/office/officeart/2018/2/layout/IconCircleList"/>
    <dgm:cxn modelId="{BE895481-6384-42CE-B01F-712C3A38E577}" type="presParOf" srcId="{52A87B86-6978-4FB7-90E7-81DE0233E83B}" destId="{1895A3F3-C4ED-4DAD-B7B1-0D420303B732}" srcOrd="3" destOrd="0" presId="urn:microsoft.com/office/officeart/2018/2/layout/IconCircleList"/>
    <dgm:cxn modelId="{6164D6E5-1760-4A70-BFBC-C17A982117D2}" type="presParOf" srcId="{52A87B86-6978-4FB7-90E7-81DE0233E83B}" destId="{E906277E-A700-4474-B6C0-D25D33659061}" srcOrd="4" destOrd="0" presId="urn:microsoft.com/office/officeart/2018/2/layout/IconCircleList"/>
    <dgm:cxn modelId="{720915B3-9F4C-4C21-8332-932A39ACDA2A}" type="presParOf" srcId="{E906277E-A700-4474-B6C0-D25D33659061}" destId="{03B080F1-D1C2-497F-96DD-B81D8382AAF8}" srcOrd="0" destOrd="0" presId="urn:microsoft.com/office/officeart/2018/2/layout/IconCircleList"/>
    <dgm:cxn modelId="{6456E421-5C78-4CE2-A3A6-A5F7F49CE115}" type="presParOf" srcId="{E906277E-A700-4474-B6C0-D25D33659061}" destId="{04887D71-7BB6-473F-9B73-84A1ADD4E6C0}" srcOrd="1" destOrd="0" presId="urn:microsoft.com/office/officeart/2018/2/layout/IconCircleList"/>
    <dgm:cxn modelId="{723369E9-5471-464F-AEA5-744EA0E92858}" type="presParOf" srcId="{E906277E-A700-4474-B6C0-D25D33659061}" destId="{9B16DFB9-D63A-4A16-8D74-733BB221AB8F}" srcOrd="2" destOrd="0" presId="urn:microsoft.com/office/officeart/2018/2/layout/IconCircleList"/>
    <dgm:cxn modelId="{069947E4-6C43-463F-A9F2-BDB85B263941}" type="presParOf" srcId="{E906277E-A700-4474-B6C0-D25D33659061}" destId="{93CE9B29-06DA-4A95-9807-C95FAC0DCED3}" srcOrd="3" destOrd="0" presId="urn:microsoft.com/office/officeart/2018/2/layout/IconCircleList"/>
    <dgm:cxn modelId="{7BC00280-317A-4C34-9FF4-7B66DF47EBDB}" type="presParOf" srcId="{52A87B86-6978-4FB7-90E7-81DE0233E83B}" destId="{7B378FFD-D73D-4B53-92AC-8F3DEF37B79D}" srcOrd="5" destOrd="0" presId="urn:microsoft.com/office/officeart/2018/2/layout/IconCircleList"/>
    <dgm:cxn modelId="{89929AF4-C9B0-4F1F-99A1-165D5C126869}" type="presParOf" srcId="{52A87B86-6978-4FB7-90E7-81DE0233E83B}" destId="{914DD630-15EF-4C0A-80C6-81BADA8B280D}" srcOrd="6" destOrd="0" presId="urn:microsoft.com/office/officeart/2018/2/layout/IconCircleList"/>
    <dgm:cxn modelId="{8A14D496-ED5F-4AB5-BE34-AFC705C4144C}" type="presParOf" srcId="{914DD630-15EF-4C0A-80C6-81BADA8B280D}" destId="{6900E4F1-9475-484B-B046-149E2B98E191}" srcOrd="0" destOrd="0" presId="urn:microsoft.com/office/officeart/2018/2/layout/IconCircleList"/>
    <dgm:cxn modelId="{448DA2E1-8374-483F-B1C8-24C51D7DCBAE}" type="presParOf" srcId="{914DD630-15EF-4C0A-80C6-81BADA8B280D}" destId="{77141E27-F9F9-4ACF-9403-6C749DF96223}" srcOrd="1" destOrd="0" presId="urn:microsoft.com/office/officeart/2018/2/layout/IconCircleList"/>
    <dgm:cxn modelId="{2934890A-9CF9-44DD-AD17-9A6A6E88619E}" type="presParOf" srcId="{914DD630-15EF-4C0A-80C6-81BADA8B280D}" destId="{BAC45DC6-E597-478F-8128-E9F137F664E4}" srcOrd="2" destOrd="0" presId="urn:microsoft.com/office/officeart/2018/2/layout/IconCircleList"/>
    <dgm:cxn modelId="{4FCDE20D-6906-4F76-A53C-FB81522A057B}" type="presParOf" srcId="{914DD630-15EF-4C0A-80C6-81BADA8B280D}" destId="{E66473E8-F08E-4A05-AB62-4D59CC122C32}"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6A6293-398C-4C8B-B7A1-D651F3E9D0F4}">
      <dsp:nvSpPr>
        <dsp:cNvPr id="0" name=""/>
        <dsp:cNvSpPr/>
      </dsp:nvSpPr>
      <dsp:spPr>
        <a:xfrm>
          <a:off x="242116" y="200771"/>
          <a:ext cx="1351285" cy="135128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543841-1463-40E8-BAF4-36FD954C413D}">
      <dsp:nvSpPr>
        <dsp:cNvPr id="0" name=""/>
        <dsp:cNvSpPr/>
      </dsp:nvSpPr>
      <dsp:spPr>
        <a:xfrm>
          <a:off x="525886" y="484541"/>
          <a:ext cx="783745" cy="78374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139E41-8A3A-45C0-95D9-41373532F01D}">
      <dsp:nvSpPr>
        <dsp:cNvPr id="0" name=""/>
        <dsp:cNvSpPr/>
      </dsp:nvSpPr>
      <dsp:spPr>
        <a:xfrm>
          <a:off x="1882962" y="200771"/>
          <a:ext cx="3185173" cy="13512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Introduction</a:t>
          </a:r>
        </a:p>
      </dsp:txBody>
      <dsp:txXfrm>
        <a:off x="1882962" y="200771"/>
        <a:ext cx="3185173" cy="1351285"/>
      </dsp:txXfrm>
    </dsp:sp>
    <dsp:sp modelId="{6DC6CD70-1D49-4482-9BE0-601CAA17E642}">
      <dsp:nvSpPr>
        <dsp:cNvPr id="0" name=""/>
        <dsp:cNvSpPr/>
      </dsp:nvSpPr>
      <dsp:spPr>
        <a:xfrm>
          <a:off x="5623128" y="200771"/>
          <a:ext cx="1351285" cy="135128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61986F-10FC-46AC-81DF-1EF4074A720B}">
      <dsp:nvSpPr>
        <dsp:cNvPr id="0" name=""/>
        <dsp:cNvSpPr/>
      </dsp:nvSpPr>
      <dsp:spPr>
        <a:xfrm>
          <a:off x="5906898" y="484541"/>
          <a:ext cx="783745" cy="78374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3C5190-71E2-465C-B32B-40D065285D5C}">
      <dsp:nvSpPr>
        <dsp:cNvPr id="0" name=""/>
        <dsp:cNvSpPr/>
      </dsp:nvSpPr>
      <dsp:spPr>
        <a:xfrm>
          <a:off x="7263975" y="200771"/>
          <a:ext cx="3185173" cy="13512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Data Analysis Process</a:t>
          </a:r>
        </a:p>
      </dsp:txBody>
      <dsp:txXfrm>
        <a:off x="7263975" y="200771"/>
        <a:ext cx="3185173" cy="1351285"/>
      </dsp:txXfrm>
    </dsp:sp>
    <dsp:sp modelId="{03B080F1-D1C2-497F-96DD-B81D8382AAF8}">
      <dsp:nvSpPr>
        <dsp:cNvPr id="0" name=""/>
        <dsp:cNvSpPr/>
      </dsp:nvSpPr>
      <dsp:spPr>
        <a:xfrm>
          <a:off x="242116" y="2187839"/>
          <a:ext cx="1351285" cy="135128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887D71-7BB6-473F-9B73-84A1ADD4E6C0}">
      <dsp:nvSpPr>
        <dsp:cNvPr id="0" name=""/>
        <dsp:cNvSpPr/>
      </dsp:nvSpPr>
      <dsp:spPr>
        <a:xfrm>
          <a:off x="525886" y="2471609"/>
          <a:ext cx="783745" cy="78374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CE9B29-06DA-4A95-9807-C95FAC0DCED3}">
      <dsp:nvSpPr>
        <dsp:cNvPr id="0" name=""/>
        <dsp:cNvSpPr/>
      </dsp:nvSpPr>
      <dsp:spPr>
        <a:xfrm>
          <a:off x="1882962" y="2187839"/>
          <a:ext cx="3185173" cy="13512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Findings</a:t>
          </a:r>
        </a:p>
      </dsp:txBody>
      <dsp:txXfrm>
        <a:off x="1882962" y="2187839"/>
        <a:ext cx="3185173" cy="1351285"/>
      </dsp:txXfrm>
    </dsp:sp>
    <dsp:sp modelId="{6900E4F1-9475-484B-B046-149E2B98E191}">
      <dsp:nvSpPr>
        <dsp:cNvPr id="0" name=""/>
        <dsp:cNvSpPr/>
      </dsp:nvSpPr>
      <dsp:spPr>
        <a:xfrm>
          <a:off x="5623128" y="2187839"/>
          <a:ext cx="1351285" cy="135128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141E27-F9F9-4ACF-9403-6C749DF96223}">
      <dsp:nvSpPr>
        <dsp:cNvPr id="0" name=""/>
        <dsp:cNvSpPr/>
      </dsp:nvSpPr>
      <dsp:spPr>
        <a:xfrm>
          <a:off x="5906898" y="2471609"/>
          <a:ext cx="783745" cy="78374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6473E8-F08E-4A05-AB62-4D59CC122C32}">
      <dsp:nvSpPr>
        <dsp:cNvPr id="0" name=""/>
        <dsp:cNvSpPr/>
      </dsp:nvSpPr>
      <dsp:spPr>
        <a:xfrm>
          <a:off x="7263975" y="2187839"/>
          <a:ext cx="3185173" cy="13512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Conclusion</a:t>
          </a:r>
        </a:p>
      </dsp:txBody>
      <dsp:txXfrm>
        <a:off x="7263975" y="2187839"/>
        <a:ext cx="3185173" cy="1351285"/>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4E47EB-39E2-4014-BD73-E7A79D97D73F}" type="datetimeFigureOut">
              <a:t>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8FCBCD-29CC-407C-83B9-06B2A8823A16}" type="slidenum">
              <a:t>‹#›</a:t>
            </a:fld>
            <a:endParaRPr lang="en-US"/>
          </a:p>
        </p:txBody>
      </p:sp>
    </p:spTree>
    <p:extLst>
      <p:ext uri="{BB962C8B-B14F-4D97-AF65-F5344CB8AC3E}">
        <p14:creationId xmlns:p14="http://schemas.microsoft.com/office/powerpoint/2010/main" val="17048624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(Hamda)</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9B8FCBCD-29CC-407C-83B9-06B2A8823A16}" type="slidenum">
              <a:t>3</a:t>
            </a:fld>
            <a:endParaRPr lang="en-US"/>
          </a:p>
        </p:txBody>
      </p:sp>
    </p:spTree>
    <p:extLst>
      <p:ext uri="{BB962C8B-B14F-4D97-AF65-F5344CB8AC3E}">
        <p14:creationId xmlns:p14="http://schemas.microsoft.com/office/powerpoint/2010/main" val="23383151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303030"/>
                </a:solidFill>
              </a:rPr>
              <a:t>Dr. William H. Wolberg performed a breast cancer diagnosis on samples. The samples are fine needle aspirate of a mass collected from patients at the University of Wisconsin Hospitals.</a:t>
            </a:r>
          </a:p>
          <a:p>
            <a:r>
              <a:rPr lang="en-US">
                <a:solidFill>
                  <a:srgbClr val="303030"/>
                </a:solidFill>
                <a:ea typeface="Calibri"/>
                <a:cs typeface="Calibri"/>
              </a:rPr>
              <a:t>Dr's Street and Mangasarian and their team </a:t>
            </a:r>
            <a:r>
              <a:rPr lang="en-US">
                <a:solidFill>
                  <a:srgbClr val="303030"/>
                </a:solidFill>
              </a:rPr>
              <a:t>extracted specific quantitative features from the digitized images of the cell nuclei. </a:t>
            </a:r>
            <a:endParaRPr lang="en-US">
              <a:solidFill>
                <a:srgbClr val="444444"/>
              </a:solidFill>
              <a:ea typeface="Calibri"/>
              <a:cs typeface="Calibri"/>
            </a:endParaRPr>
          </a:p>
          <a:p>
            <a:r>
              <a:rPr lang="en-US">
                <a:solidFill>
                  <a:srgbClr val="303030"/>
                </a:solidFill>
                <a:ea typeface="Calibri"/>
                <a:cs typeface="Calibri"/>
              </a:rPr>
              <a:t>QUALITY: </a:t>
            </a:r>
            <a:r>
              <a:rPr lang="en-US">
                <a:solidFill>
                  <a:srgbClr val="303030"/>
                </a:solidFill>
              </a:rPr>
              <a:t>Each data instance is confirmed by a clinical diagnosis (benign or malignant), providing a solid diagnosis label for training and testing models.</a:t>
            </a:r>
            <a:endParaRPr lang="en-US">
              <a:solidFill>
                <a:srgbClr val="444444"/>
              </a:solidFill>
              <a:ea typeface="Calibri" panose="020F0502020204030204"/>
              <a:cs typeface="Calibri" panose="020F0502020204030204"/>
            </a:endParaRPr>
          </a:p>
          <a:p>
            <a:endParaRPr lang="en-US">
              <a:solidFill>
                <a:srgbClr val="303030"/>
              </a:solidFill>
              <a:ea typeface="Calibri"/>
              <a:cs typeface="Calibri"/>
            </a:endParaRPr>
          </a:p>
          <a:p>
            <a:pPr marL="628650" lvl="1" indent="-171450">
              <a:buFont typeface="Arial"/>
              <a:buChar char="•"/>
            </a:pPr>
            <a:r>
              <a:rPr lang="en-US">
                <a:solidFill>
                  <a:srgbClr val="303030"/>
                </a:solidFill>
              </a:rPr>
              <a:t>The collected breast mass samples were then digitized as images. Researchers in the University of Wisconsin Computer Sciences Department digitized and developed software to analyze these images.</a:t>
            </a:r>
            <a:endParaRPr lang="en-US"/>
          </a:p>
          <a:p>
            <a:pPr marL="628650" lvl="1" indent="-171450">
              <a:buFont typeface="Arial"/>
              <a:buChar char="•"/>
            </a:pPr>
            <a:r>
              <a:rPr lang="en-US">
                <a:solidFill>
                  <a:srgbClr val="303030"/>
                </a:solidFill>
              </a:rPr>
              <a:t>The software extracted specific quantitative features from the digitized images of the cell nuclei. These features numerically describe various characteristics of the cells, such as radius, texture, perimeter, area, smoothness, and concavity. </a:t>
            </a:r>
            <a:endParaRPr lang="en-US"/>
          </a:p>
          <a:p>
            <a:pPr marL="628650" lvl="1" indent="-171450">
              <a:buFont typeface="Arial"/>
              <a:buChar char="•"/>
            </a:pPr>
            <a:r>
              <a:rPr lang="en-US">
                <a:solidFill>
                  <a:srgbClr val="303030"/>
                </a:solidFill>
              </a:rPr>
              <a:t>Each data instance is confirmed by a clinical diagnosis (benign or malignant), providing a solid diagnosis label for training and testing models.</a:t>
            </a:r>
            <a:endParaRPr lang="en-US"/>
          </a:p>
          <a:p>
            <a:endParaRPr lang="en-US">
              <a:solidFill>
                <a:srgbClr val="303030"/>
              </a:solidFill>
              <a:ea typeface="Calibri"/>
              <a:cs typeface="Calibri"/>
            </a:endParaRPr>
          </a:p>
        </p:txBody>
      </p:sp>
      <p:sp>
        <p:nvSpPr>
          <p:cNvPr id="4" name="Slide Number Placeholder 3"/>
          <p:cNvSpPr>
            <a:spLocks noGrp="1"/>
          </p:cNvSpPr>
          <p:nvPr>
            <p:ph type="sldNum" sz="quarter" idx="5"/>
          </p:nvPr>
        </p:nvSpPr>
        <p:spPr/>
        <p:txBody>
          <a:bodyPr/>
          <a:lstStyle/>
          <a:p>
            <a:fld id="{9B8FCBCD-29CC-407C-83B9-06B2A8823A16}" type="slidenum">
              <a:rPr lang="en-US"/>
              <a:t>4</a:t>
            </a:fld>
            <a:endParaRPr lang="en-US"/>
          </a:p>
        </p:txBody>
      </p:sp>
    </p:spTree>
    <p:extLst>
      <p:ext uri="{BB962C8B-B14F-4D97-AF65-F5344CB8AC3E}">
        <p14:creationId xmlns:p14="http://schemas.microsoft.com/office/powerpoint/2010/main" val="3716757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E42A0-0B91-A80F-46CB-D2D73D8FBE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075423-6A4B-990A-5DD0-417FA57112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CC5526-853E-6904-A144-441BDDAFE85E}"/>
              </a:ext>
            </a:extLst>
          </p:cNvPr>
          <p:cNvSpPr>
            <a:spLocks noGrp="1"/>
          </p:cNvSpPr>
          <p:nvPr>
            <p:ph type="body" idx="1"/>
          </p:nvPr>
        </p:nvSpPr>
        <p:spPr/>
        <p:txBody>
          <a:bodyPr/>
          <a:lstStyle/>
          <a:p>
            <a:endParaRPr lang="en-US">
              <a:solidFill>
                <a:srgbClr val="303030"/>
              </a:solidFill>
              <a:ea typeface="Calibri"/>
              <a:cs typeface="Calibri"/>
            </a:endParaRPr>
          </a:p>
        </p:txBody>
      </p:sp>
      <p:sp>
        <p:nvSpPr>
          <p:cNvPr id="4" name="Slide Number Placeholder 3">
            <a:extLst>
              <a:ext uri="{FF2B5EF4-FFF2-40B4-BE49-F238E27FC236}">
                <a16:creationId xmlns:a16="http://schemas.microsoft.com/office/drawing/2014/main" id="{09C6DCFF-DA1B-3ADD-6B4E-0D4129839FE1}"/>
              </a:ext>
            </a:extLst>
          </p:cNvPr>
          <p:cNvSpPr>
            <a:spLocks noGrp="1"/>
          </p:cNvSpPr>
          <p:nvPr>
            <p:ph type="sldNum" sz="quarter" idx="5"/>
          </p:nvPr>
        </p:nvSpPr>
        <p:spPr/>
        <p:txBody>
          <a:bodyPr/>
          <a:lstStyle/>
          <a:p>
            <a:fld id="{9B8FCBCD-29CC-407C-83B9-06B2A8823A16}" type="slidenum">
              <a:rPr lang="en-US"/>
              <a:t>5</a:t>
            </a:fld>
            <a:endParaRPr lang="en-US"/>
          </a:p>
        </p:txBody>
      </p:sp>
    </p:spTree>
    <p:extLst>
      <p:ext uri="{BB962C8B-B14F-4D97-AF65-F5344CB8AC3E}">
        <p14:creationId xmlns:p14="http://schemas.microsoft.com/office/powerpoint/2010/main" val="5233527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37CEF-2F03-FD52-6495-33F2CEE6F8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C997E0-F461-2AE3-0AEA-2BD738701A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FD0EC9-7640-C465-9048-ED1463CE78B4}"/>
              </a:ext>
            </a:extLst>
          </p:cNvPr>
          <p:cNvSpPr>
            <a:spLocks noGrp="1"/>
          </p:cNvSpPr>
          <p:nvPr>
            <p:ph type="body" idx="1"/>
          </p:nvPr>
        </p:nvSpPr>
        <p:spPr/>
        <p:txBody>
          <a:bodyPr/>
          <a:lstStyle/>
          <a:p>
            <a:pPr marL="628650" lvl="1" indent="-171450">
              <a:buFont typeface="Arial"/>
              <a:buChar char="•"/>
            </a:pPr>
            <a:r>
              <a:rPr lang="en-US">
                <a:solidFill>
                  <a:srgbClr val="303030"/>
                </a:solidFill>
              </a:rPr>
              <a:t>During that era, federal regulations (the "Common Rule") generally only required explicit informed consent for research if the specimens were linked to personal information and collected specifically for research purposes.</a:t>
            </a:r>
            <a:endParaRPr lang="en-US"/>
          </a:p>
          <a:p>
            <a:pPr marL="457200" indent="-171450">
              <a:buFont typeface="Arial"/>
              <a:buChar char="•"/>
            </a:pPr>
            <a:r>
              <a:rPr lang="en-US">
                <a:solidFill>
                  <a:srgbClr val="303030"/>
                </a:solidFill>
              </a:rPr>
              <a:t>Subsequent studies that have used the dataset have often been granted </a:t>
            </a:r>
            <a:r>
              <a:rPr lang="en-US" b="1">
                <a:solidFill>
                  <a:srgbClr val="303030"/>
                </a:solidFill>
              </a:rPr>
              <a:t>waivers of informed consent</a:t>
            </a:r>
            <a:r>
              <a:rPr lang="en-US">
                <a:solidFill>
                  <a:srgbClr val="303030"/>
                </a:solidFill>
              </a:rPr>
              <a:t> by their own Institutional Review Boards (IRBs) because the data is retrospective, anonymized, and compliant with current privacy regulations like HIPAA. </a:t>
            </a:r>
            <a:endParaRPr lang="en-US">
              <a:solidFill>
                <a:srgbClr val="303030"/>
              </a:solidFill>
              <a:ea typeface="Calibri"/>
              <a:cs typeface="Calibri"/>
            </a:endParaRPr>
          </a:p>
          <a:p>
            <a:pPr marL="628650" lvl="1" indent="-171450">
              <a:buFont typeface="Arial"/>
              <a:buChar char="•"/>
            </a:pPr>
            <a:endParaRPr lang="en-US">
              <a:solidFill>
                <a:srgbClr val="303030"/>
              </a:solidFill>
              <a:ea typeface="Calibri"/>
              <a:cs typeface="Calibri"/>
            </a:endParaRPr>
          </a:p>
          <a:p>
            <a:endParaRPr lang="en-US">
              <a:solidFill>
                <a:srgbClr val="303030"/>
              </a:solidFill>
              <a:ea typeface="Calibri"/>
              <a:cs typeface="Calibri"/>
            </a:endParaRPr>
          </a:p>
        </p:txBody>
      </p:sp>
      <p:sp>
        <p:nvSpPr>
          <p:cNvPr id="4" name="Slide Number Placeholder 3">
            <a:extLst>
              <a:ext uri="{FF2B5EF4-FFF2-40B4-BE49-F238E27FC236}">
                <a16:creationId xmlns:a16="http://schemas.microsoft.com/office/drawing/2014/main" id="{356E43D5-EBFA-E45A-8394-2453059B8D04}"/>
              </a:ext>
            </a:extLst>
          </p:cNvPr>
          <p:cNvSpPr>
            <a:spLocks noGrp="1"/>
          </p:cNvSpPr>
          <p:nvPr>
            <p:ph type="sldNum" sz="quarter" idx="5"/>
          </p:nvPr>
        </p:nvSpPr>
        <p:spPr/>
        <p:txBody>
          <a:bodyPr/>
          <a:lstStyle/>
          <a:p>
            <a:fld id="{9B8FCBCD-29CC-407C-83B9-06B2A8823A16}" type="slidenum">
              <a:rPr lang="en-US"/>
              <a:t>6</a:t>
            </a:fld>
            <a:endParaRPr lang="en-US"/>
          </a:p>
        </p:txBody>
      </p:sp>
    </p:spTree>
    <p:extLst>
      <p:ext uri="{BB962C8B-B14F-4D97-AF65-F5344CB8AC3E}">
        <p14:creationId xmlns:p14="http://schemas.microsoft.com/office/powerpoint/2010/main" val="21623903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ensure our dataset was clean and suitable for analysis, we completed the following steps</a:t>
            </a:r>
          </a:p>
          <a:p>
            <a:pPr marL="228600" indent="-228600">
              <a:buAutoNum type="arabicPeriod"/>
            </a:pPr>
            <a:r>
              <a:rPr lang="en-US">
                <a:ea typeface="Calibri" panose="020F0502020204030204"/>
                <a:cs typeface="Calibri" panose="020F0502020204030204"/>
              </a:rPr>
              <a:t>We checked for null and negative values in our dataset</a:t>
            </a:r>
          </a:p>
          <a:p>
            <a:pPr marL="228600" indent="-228600">
              <a:buAutoNum type="arabicPeriod"/>
            </a:pPr>
            <a:r>
              <a:rPr lang="en-US">
                <a:ea typeface="Calibri" panose="020F0502020204030204"/>
                <a:cs typeface="Calibri" panose="020F0502020204030204"/>
              </a:rPr>
              <a:t>To</a:t>
            </a:r>
            <a:r>
              <a:rPr lang="en-US"/>
              <a:t> avoid multicollinearity issues, we were intentional about which features to include in our models and selected modeling approaches that are more robust to correlated predictors.</a:t>
            </a:r>
            <a:endParaRPr lang="en-US">
              <a:ea typeface="Calibri"/>
              <a:cs typeface="Calibri"/>
            </a:endParaRPr>
          </a:p>
        </p:txBody>
      </p:sp>
      <p:sp>
        <p:nvSpPr>
          <p:cNvPr id="4" name="Slide Number Placeholder 3"/>
          <p:cNvSpPr>
            <a:spLocks noGrp="1"/>
          </p:cNvSpPr>
          <p:nvPr>
            <p:ph type="sldNum" sz="quarter" idx="5"/>
          </p:nvPr>
        </p:nvSpPr>
        <p:spPr/>
        <p:txBody>
          <a:bodyPr/>
          <a:lstStyle/>
          <a:p>
            <a:fld id="{9B8FCBCD-29CC-407C-83B9-06B2A8823A16}" type="slidenum">
              <a:rPr lang="en-US"/>
              <a:t>7</a:t>
            </a:fld>
            <a:endParaRPr lang="en-US"/>
          </a:p>
        </p:txBody>
      </p:sp>
    </p:spTree>
    <p:extLst>
      <p:ext uri="{BB962C8B-B14F-4D97-AF65-F5344CB8AC3E}">
        <p14:creationId xmlns:p14="http://schemas.microsoft.com/office/powerpoint/2010/main" val="3874265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E52F2-5429-C1D0-9634-C14243497F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E15F16-53C0-439E-6136-A21CE4A1C2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AC04D6-EF7E-0DEE-4A89-E0058CC78505}"/>
              </a:ext>
            </a:extLst>
          </p:cNvPr>
          <p:cNvSpPr>
            <a:spLocks noGrp="1"/>
          </p:cNvSpPr>
          <p:nvPr>
            <p:ph type="body" idx="1"/>
          </p:nvPr>
        </p:nvSpPr>
        <p:spPr/>
        <p:txBody>
          <a:bodyPr/>
          <a:lstStyle/>
          <a:p>
            <a:r>
              <a:rPr lang="en-US">
                <a:ea typeface="Calibri"/>
                <a:cs typeface="Calibri"/>
              </a:rPr>
              <a:t>Hamda</a:t>
            </a:r>
          </a:p>
        </p:txBody>
      </p:sp>
      <p:sp>
        <p:nvSpPr>
          <p:cNvPr id="4" name="Slide Number Placeholder 3">
            <a:extLst>
              <a:ext uri="{FF2B5EF4-FFF2-40B4-BE49-F238E27FC236}">
                <a16:creationId xmlns:a16="http://schemas.microsoft.com/office/drawing/2014/main" id="{E5CADAFB-CB54-B868-20DD-922EF5568564}"/>
              </a:ext>
            </a:extLst>
          </p:cNvPr>
          <p:cNvSpPr>
            <a:spLocks noGrp="1"/>
          </p:cNvSpPr>
          <p:nvPr>
            <p:ph type="sldNum" sz="quarter" idx="5"/>
          </p:nvPr>
        </p:nvSpPr>
        <p:spPr/>
        <p:txBody>
          <a:bodyPr/>
          <a:lstStyle/>
          <a:p>
            <a:fld id="{9B8FCBCD-29CC-407C-83B9-06B2A8823A16}" type="slidenum">
              <a:rPr lang="en-US"/>
              <a:t>8</a:t>
            </a:fld>
            <a:endParaRPr lang="en-US"/>
          </a:p>
        </p:txBody>
      </p:sp>
    </p:spTree>
    <p:extLst>
      <p:ext uri="{BB962C8B-B14F-4D97-AF65-F5344CB8AC3E}">
        <p14:creationId xmlns:p14="http://schemas.microsoft.com/office/powerpoint/2010/main" val="40371711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DFE17-DACB-5703-1B38-3CB0B26B53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E54DE5-CA96-AAE3-BABD-B9C1B32ACA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E9B19F-39B9-F8BD-811F-C6A72E955EAE}"/>
              </a:ext>
            </a:extLst>
          </p:cNvPr>
          <p:cNvSpPr>
            <a:spLocks noGrp="1"/>
          </p:cNvSpPr>
          <p:nvPr>
            <p:ph type="body" idx="1"/>
          </p:nvPr>
        </p:nvSpPr>
        <p:spPr/>
        <p:txBody>
          <a:bodyPr/>
          <a:lstStyle/>
          <a:p>
            <a:r>
              <a:rPr lang="en-US"/>
              <a:t>An AUC of 0.5 would mean the model is no better than random guessing; 1.0 would mean perfect ranking.</a:t>
            </a:r>
          </a:p>
          <a:p>
            <a:r>
              <a:rPr lang="en-US">
                <a:ea typeface="Calibri"/>
                <a:cs typeface="Calibri"/>
              </a:rPr>
              <a:t>ROC curve: a plot of the true positive rate against the false positive rate.</a:t>
            </a:r>
          </a:p>
        </p:txBody>
      </p:sp>
      <p:sp>
        <p:nvSpPr>
          <p:cNvPr id="4" name="Slide Number Placeholder 3">
            <a:extLst>
              <a:ext uri="{FF2B5EF4-FFF2-40B4-BE49-F238E27FC236}">
                <a16:creationId xmlns:a16="http://schemas.microsoft.com/office/drawing/2014/main" id="{E86002DD-9F61-E019-DD42-E0505C8E636F}"/>
              </a:ext>
            </a:extLst>
          </p:cNvPr>
          <p:cNvSpPr>
            <a:spLocks noGrp="1"/>
          </p:cNvSpPr>
          <p:nvPr>
            <p:ph type="sldNum" sz="quarter" idx="5"/>
          </p:nvPr>
        </p:nvSpPr>
        <p:spPr/>
        <p:txBody>
          <a:bodyPr/>
          <a:lstStyle/>
          <a:p>
            <a:fld id="{9B8FCBCD-29CC-407C-83B9-06B2A8823A16}" type="slidenum">
              <a:rPr lang="en-US"/>
              <a:t>9</a:t>
            </a:fld>
            <a:endParaRPr lang="en-US"/>
          </a:p>
        </p:txBody>
      </p:sp>
    </p:spTree>
    <p:extLst>
      <p:ext uri="{BB962C8B-B14F-4D97-AF65-F5344CB8AC3E}">
        <p14:creationId xmlns:p14="http://schemas.microsoft.com/office/powerpoint/2010/main" val="18208808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Hamda</a:t>
            </a:r>
          </a:p>
        </p:txBody>
      </p:sp>
      <p:sp>
        <p:nvSpPr>
          <p:cNvPr id="4" name="Slide Number Placeholder 3"/>
          <p:cNvSpPr>
            <a:spLocks noGrp="1"/>
          </p:cNvSpPr>
          <p:nvPr>
            <p:ph type="sldNum" sz="quarter" idx="5"/>
          </p:nvPr>
        </p:nvSpPr>
        <p:spPr/>
        <p:txBody>
          <a:bodyPr/>
          <a:lstStyle/>
          <a:p>
            <a:fld id="{9B8FCBCD-29CC-407C-83B9-06B2A8823A16}" type="slidenum">
              <a:rPr lang="en-US"/>
              <a:t>11</a:t>
            </a:fld>
            <a:endParaRPr lang="en-US"/>
          </a:p>
        </p:txBody>
      </p:sp>
    </p:spTree>
    <p:extLst>
      <p:ext uri="{BB962C8B-B14F-4D97-AF65-F5344CB8AC3E}">
        <p14:creationId xmlns:p14="http://schemas.microsoft.com/office/powerpoint/2010/main" val="29359449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Hamda</a:t>
            </a:r>
          </a:p>
        </p:txBody>
      </p:sp>
      <p:sp>
        <p:nvSpPr>
          <p:cNvPr id="4" name="Slide Number Placeholder 3"/>
          <p:cNvSpPr>
            <a:spLocks noGrp="1"/>
          </p:cNvSpPr>
          <p:nvPr>
            <p:ph type="sldNum" sz="quarter" idx="5"/>
          </p:nvPr>
        </p:nvSpPr>
        <p:spPr/>
        <p:txBody>
          <a:bodyPr/>
          <a:lstStyle/>
          <a:p>
            <a:fld id="{9B8FCBCD-29CC-407C-83B9-06B2A8823A16}" type="slidenum">
              <a:rPr lang="en-US"/>
              <a:t>12</a:t>
            </a:fld>
            <a:endParaRPr lang="en-US"/>
          </a:p>
        </p:txBody>
      </p:sp>
    </p:spTree>
    <p:extLst>
      <p:ext uri="{BB962C8B-B14F-4D97-AF65-F5344CB8AC3E}">
        <p14:creationId xmlns:p14="http://schemas.microsoft.com/office/powerpoint/2010/main" val="42198171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SCALED FEATURES </a:t>
            </a:r>
            <a:r>
              <a:rPr lang="en-US" err="1">
                <a:ea typeface="Calibri"/>
                <a:cs typeface="Calibri"/>
              </a:rPr>
              <a:t>train_test_split</a:t>
            </a:r>
          </a:p>
          <a:p>
            <a:r>
              <a:rPr lang="en-US">
                <a:ea typeface="Calibri"/>
                <a:cs typeface="Calibri"/>
              </a:rPr>
              <a:t>All mean features except those derived from radius (perimeter, area, compactness)</a:t>
            </a:r>
            <a:endParaRPr lang="en-US"/>
          </a:p>
          <a:p>
            <a:r>
              <a:rPr lang="en-US"/>
              <a:t>P-values all 0, R-squared slightly lower but still strong</a:t>
            </a:r>
            <a:endParaRPr lang="en-US">
              <a:ea typeface="Calibri"/>
              <a:cs typeface="Calibri"/>
            </a:endParaRPr>
          </a:p>
        </p:txBody>
      </p:sp>
      <p:sp>
        <p:nvSpPr>
          <p:cNvPr id="4" name="Slide Number Placeholder 3"/>
          <p:cNvSpPr>
            <a:spLocks noGrp="1"/>
          </p:cNvSpPr>
          <p:nvPr>
            <p:ph type="sldNum" sz="quarter" idx="5"/>
          </p:nvPr>
        </p:nvSpPr>
        <p:spPr/>
        <p:txBody>
          <a:bodyPr/>
          <a:lstStyle/>
          <a:p>
            <a:fld id="{9B8FCBCD-29CC-407C-83B9-06B2A8823A16}" type="slidenum">
              <a:rPr lang="en-US"/>
              <a:t>13</a:t>
            </a:fld>
            <a:endParaRPr lang="en-US"/>
          </a:p>
        </p:txBody>
      </p:sp>
    </p:spTree>
    <p:extLst>
      <p:ext uri="{BB962C8B-B14F-4D97-AF65-F5344CB8AC3E}">
        <p14:creationId xmlns:p14="http://schemas.microsoft.com/office/powerpoint/2010/main" val="23667540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9B8FCBCD-29CC-407C-83B9-06B2A8823A16}" type="slidenum">
              <a:rPr lang="en-US"/>
              <a:t>14</a:t>
            </a:fld>
            <a:endParaRPr lang="en-US"/>
          </a:p>
        </p:txBody>
      </p:sp>
    </p:spTree>
    <p:extLst>
      <p:ext uri="{BB962C8B-B14F-4D97-AF65-F5344CB8AC3E}">
        <p14:creationId xmlns:p14="http://schemas.microsoft.com/office/powerpoint/2010/main" val="25935535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Hamda</a:t>
            </a:r>
          </a:p>
        </p:txBody>
      </p:sp>
      <p:sp>
        <p:nvSpPr>
          <p:cNvPr id="4" name="Slide Number Placeholder 3"/>
          <p:cNvSpPr>
            <a:spLocks noGrp="1"/>
          </p:cNvSpPr>
          <p:nvPr>
            <p:ph type="sldNum" sz="quarter" idx="5"/>
          </p:nvPr>
        </p:nvSpPr>
        <p:spPr/>
        <p:txBody>
          <a:bodyPr/>
          <a:lstStyle/>
          <a:p>
            <a:fld id="{9B8FCBCD-29CC-407C-83B9-06B2A8823A16}" type="slidenum">
              <a:rPr lang="en-US"/>
              <a:t>16</a:t>
            </a:fld>
            <a:endParaRPr lang="en-US"/>
          </a:p>
        </p:txBody>
      </p:sp>
    </p:spTree>
    <p:extLst>
      <p:ext uri="{BB962C8B-B14F-4D97-AF65-F5344CB8AC3E}">
        <p14:creationId xmlns:p14="http://schemas.microsoft.com/office/powerpoint/2010/main" val="1875429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Hamda</a:t>
            </a:r>
          </a:p>
        </p:txBody>
      </p:sp>
      <p:sp>
        <p:nvSpPr>
          <p:cNvPr id="4" name="Slide Number Placeholder 3"/>
          <p:cNvSpPr>
            <a:spLocks noGrp="1"/>
          </p:cNvSpPr>
          <p:nvPr>
            <p:ph type="sldNum" sz="quarter" idx="5"/>
          </p:nvPr>
        </p:nvSpPr>
        <p:spPr/>
        <p:txBody>
          <a:bodyPr/>
          <a:lstStyle/>
          <a:p>
            <a:fld id="{9B8FCBCD-29CC-407C-83B9-06B2A8823A16}" type="slidenum">
              <a:rPr lang="en-US"/>
              <a:t>17</a:t>
            </a:fld>
            <a:endParaRPr lang="en-US"/>
          </a:p>
        </p:txBody>
      </p:sp>
    </p:spTree>
    <p:extLst>
      <p:ext uri="{BB962C8B-B14F-4D97-AF65-F5344CB8AC3E}">
        <p14:creationId xmlns:p14="http://schemas.microsoft.com/office/powerpoint/2010/main" val="4017442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Hamda</a:t>
            </a:r>
          </a:p>
        </p:txBody>
      </p:sp>
      <p:sp>
        <p:nvSpPr>
          <p:cNvPr id="4" name="Slide Number Placeholder 3"/>
          <p:cNvSpPr>
            <a:spLocks noGrp="1"/>
          </p:cNvSpPr>
          <p:nvPr>
            <p:ph type="sldNum" sz="quarter" idx="5"/>
          </p:nvPr>
        </p:nvSpPr>
        <p:spPr/>
        <p:txBody>
          <a:bodyPr/>
          <a:lstStyle/>
          <a:p>
            <a:fld id="{9B8FCBCD-29CC-407C-83B9-06B2A8823A16}" type="slidenum">
              <a:rPr lang="en-US"/>
              <a:t>18</a:t>
            </a:fld>
            <a:endParaRPr lang="en-US"/>
          </a:p>
        </p:txBody>
      </p:sp>
    </p:spTree>
    <p:extLst>
      <p:ext uri="{BB962C8B-B14F-4D97-AF65-F5344CB8AC3E}">
        <p14:creationId xmlns:p14="http://schemas.microsoft.com/office/powerpoint/2010/main" val="28549011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914400" lvl="1" indent="-457200">
              <a:lnSpc>
                <a:spcPct val="110000"/>
              </a:lnSpc>
              <a:spcBef>
                <a:spcPts val="500"/>
              </a:spcBef>
              <a:buFont typeface="Courier New,monospace"/>
              <a:buChar char="o"/>
            </a:pPr>
            <a:r>
              <a:rPr lang="en-US"/>
              <a:t>Can we build a machine learning model to accurately predict whether a tumor is malignant or benign?</a:t>
            </a:r>
          </a:p>
          <a:p>
            <a:pPr marL="914400" lvl="1" indent="-457200">
              <a:lnSpc>
                <a:spcPct val="110000"/>
              </a:lnSpc>
              <a:spcBef>
                <a:spcPts val="500"/>
              </a:spcBef>
              <a:buFont typeface="Courier New,monospace"/>
              <a:buChar char="o"/>
            </a:pPr>
            <a:r>
              <a:rPr lang="en-US"/>
              <a:t>Which features are the strongest indicators of malignancy, and how well can they predict cancer?</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9B8FCBCD-29CC-407C-83B9-06B2A8823A16}" type="slidenum">
              <a:rPr lang="en-US"/>
              <a:t>25</a:t>
            </a:fld>
            <a:endParaRPr lang="en-US"/>
          </a:p>
        </p:txBody>
      </p:sp>
    </p:spTree>
    <p:extLst>
      <p:ext uri="{BB962C8B-B14F-4D97-AF65-F5344CB8AC3E}">
        <p14:creationId xmlns:p14="http://schemas.microsoft.com/office/powerpoint/2010/main" val="1016686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12/8/2025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60849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12/8/2025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5318363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12/8/2025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6530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12/8/2025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07806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12/8/2025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23614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12/8/2025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47195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12/8/2025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86885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12/8/2025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78811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12/8/2025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07570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12/8/2025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0739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12/8/2025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9082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12/8/2025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2137846"/>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1" r:id="rId6"/>
    <p:sldLayoutId id="2147483697" r:id="rId7"/>
    <p:sldLayoutId id="2147483698" r:id="rId8"/>
    <p:sldLayoutId id="2147483699" r:id="rId9"/>
    <p:sldLayoutId id="2147483700" r:id="rId10"/>
    <p:sldLayoutId id="2147483702"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85CB65D0-496F-4797-A015-C85839E35D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2F74BC9E-D335-C51C-D593-BE35CCE17C7C}"/>
              </a:ext>
            </a:extLst>
          </p:cNvPr>
          <p:cNvPicPr>
            <a:picLocks noChangeAspect="1"/>
          </p:cNvPicPr>
          <p:nvPr/>
        </p:nvPicPr>
        <p:blipFill>
          <a:blip r:embed="rId2"/>
          <a:srcRect t="19666" r="-2" b="-2"/>
          <a:stretch>
            <a:fillRect/>
          </a:stretch>
        </p:blipFill>
        <p:spPr>
          <a:xfrm>
            <a:off x="1" y="10"/>
            <a:ext cx="12192000" cy="6857989"/>
          </a:xfrm>
          <a:prstGeom prst="rect">
            <a:avLst/>
          </a:prstGeom>
        </p:spPr>
      </p:pic>
      <p:sp>
        <p:nvSpPr>
          <p:cNvPr id="27" name="Rectangle 26">
            <a:extLst>
              <a:ext uri="{FF2B5EF4-FFF2-40B4-BE49-F238E27FC236}">
                <a16:creationId xmlns:a16="http://schemas.microsoft.com/office/drawing/2014/main" id="{95D2C779-8883-4E5F-A170-0F464918C1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07" y="990598"/>
            <a:ext cx="12188952" cy="4745182"/>
          </a:xfrm>
          <a:prstGeom prst="rect">
            <a:avLst/>
          </a:prstGeom>
          <a:gradFill>
            <a:gsLst>
              <a:gs pos="35000">
                <a:srgbClr val="000000">
                  <a:alpha val="41000"/>
                </a:srgbClr>
              </a:gs>
              <a:gs pos="0">
                <a:srgbClr val="000000">
                  <a:alpha val="0"/>
                </a:srgbClr>
              </a:gs>
              <a:gs pos="47744">
                <a:srgbClr val="000000">
                  <a:alpha val="51000"/>
                </a:srgbClr>
              </a:gs>
              <a:gs pos="70000">
                <a:srgbClr val="000000">
                  <a:alpha val="37000"/>
                </a:srgbClr>
              </a:gs>
              <a:gs pos="100000">
                <a:srgbClr val="000000">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833541" y="990599"/>
            <a:ext cx="5619054" cy="4849091"/>
          </a:xfrm>
        </p:spPr>
        <p:txBody>
          <a:bodyPr anchor="ctr">
            <a:normAutofit/>
          </a:bodyPr>
          <a:lstStyle/>
          <a:p>
            <a:pPr algn="r"/>
            <a:r>
              <a:rPr lang="en-US">
                <a:solidFill>
                  <a:srgbClr val="FFFFFF"/>
                </a:solidFill>
              </a:rPr>
              <a:t>Breast Cancer Predictions</a:t>
            </a:r>
          </a:p>
        </p:txBody>
      </p:sp>
      <p:sp>
        <p:nvSpPr>
          <p:cNvPr id="3" name="Subtitle 2"/>
          <p:cNvSpPr>
            <a:spLocks noGrp="1"/>
          </p:cNvSpPr>
          <p:nvPr>
            <p:ph type="subTitle" idx="1"/>
          </p:nvPr>
        </p:nvSpPr>
        <p:spPr>
          <a:xfrm>
            <a:off x="8712865" y="1447799"/>
            <a:ext cx="2368905" cy="4076699"/>
          </a:xfrm>
        </p:spPr>
        <p:txBody>
          <a:bodyPr vert="horz" lIns="91440" tIns="45720" rIns="91440" bIns="45720" rtlCol="0" anchor="ctr">
            <a:normAutofit/>
          </a:bodyPr>
          <a:lstStyle/>
          <a:p>
            <a:r>
              <a:rPr lang="en-US">
                <a:solidFill>
                  <a:srgbClr val="FFFFFF"/>
                </a:solidFill>
              </a:rPr>
              <a:t>By: Hamda Hassan &amp; Jennifer Poling</a:t>
            </a:r>
          </a:p>
        </p:txBody>
      </p:sp>
      <p:cxnSp>
        <p:nvCxnSpPr>
          <p:cNvPr id="28" name="Straight Connector 27">
            <a:extLst>
              <a:ext uri="{FF2B5EF4-FFF2-40B4-BE49-F238E27FC236}">
                <a16:creationId xmlns:a16="http://schemas.microsoft.com/office/drawing/2014/main" id="{BD96A694-258D-4418-A83C-B9BA72FD44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115300" y="1780927"/>
            <a:ext cx="0" cy="3390901"/>
          </a:xfrm>
          <a:prstGeom prst="line">
            <a:avLst/>
          </a:prstGeom>
          <a:ln w="44450">
            <a:solidFill>
              <a:srgbClr val="FFFFFF"/>
            </a:solidFill>
          </a:ln>
          <a:effectLst>
            <a:outerShdw blurRad="50800" dist="38100" dir="2700000" sx="88000" sy="88000" algn="t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CE726-00AB-2E8B-2E8C-696AC292AEBD}"/>
              </a:ext>
            </a:extLst>
          </p:cNvPr>
          <p:cNvSpPr>
            <a:spLocks noGrp="1"/>
          </p:cNvSpPr>
          <p:nvPr>
            <p:ph type="title"/>
          </p:nvPr>
        </p:nvSpPr>
        <p:spPr/>
        <p:txBody>
          <a:bodyPr/>
          <a:lstStyle/>
          <a:p>
            <a:r>
              <a:rPr lang="en-US"/>
              <a:t>Agenda</a:t>
            </a:r>
          </a:p>
        </p:txBody>
      </p:sp>
      <p:graphicFrame>
        <p:nvGraphicFramePr>
          <p:cNvPr id="13" name="Content Placeholder 2">
            <a:extLst>
              <a:ext uri="{FF2B5EF4-FFF2-40B4-BE49-F238E27FC236}">
                <a16:creationId xmlns:a16="http://schemas.microsoft.com/office/drawing/2014/main" id="{91B7132E-46D7-DA08-58DA-86813C75B745}"/>
              </a:ext>
            </a:extLst>
          </p:cNvPr>
          <p:cNvGraphicFramePr>
            <a:graphicFrameLocks noGrp="1"/>
          </p:cNvGraphicFramePr>
          <p:nvPr>
            <p:ph idx="1"/>
          </p:nvPr>
        </p:nvGraphicFramePr>
        <p:xfrm>
          <a:off x="700635" y="2221992"/>
          <a:ext cx="10691265" cy="37398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64391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6B3CA38D-7BB0-4D35-BE00-0F48766027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3FCC22-61EA-85B3-9C93-96BD48EEE658}"/>
              </a:ext>
            </a:extLst>
          </p:cNvPr>
          <p:cNvSpPr>
            <a:spLocks noGrp="1"/>
          </p:cNvSpPr>
          <p:nvPr>
            <p:ph type="title"/>
          </p:nvPr>
        </p:nvSpPr>
        <p:spPr>
          <a:xfrm>
            <a:off x="700635" y="913218"/>
            <a:ext cx="10691265" cy="1371030"/>
          </a:xfrm>
        </p:spPr>
        <p:txBody>
          <a:bodyPr>
            <a:normAutofit/>
          </a:bodyPr>
          <a:lstStyle/>
          <a:p>
            <a:r>
              <a:rPr lang="en-US"/>
              <a:t>Introduction</a:t>
            </a:r>
          </a:p>
        </p:txBody>
      </p:sp>
      <p:sp>
        <p:nvSpPr>
          <p:cNvPr id="20" name="Content Placeholder 2">
            <a:extLst>
              <a:ext uri="{FF2B5EF4-FFF2-40B4-BE49-F238E27FC236}">
                <a16:creationId xmlns:a16="http://schemas.microsoft.com/office/drawing/2014/main" id="{E88E0F0B-F424-3AB3-0703-28600CAFE584}"/>
              </a:ext>
            </a:extLst>
          </p:cNvPr>
          <p:cNvSpPr>
            <a:spLocks noGrp="1"/>
          </p:cNvSpPr>
          <p:nvPr>
            <p:ph idx="1"/>
          </p:nvPr>
        </p:nvSpPr>
        <p:spPr>
          <a:xfrm>
            <a:off x="700635" y="2221992"/>
            <a:ext cx="10691265" cy="3739896"/>
          </a:xfrm>
        </p:spPr>
        <p:txBody>
          <a:bodyPr vert="horz" lIns="91440" tIns="45720" rIns="91440" bIns="45720" rtlCol="0" anchor="t">
            <a:normAutofit/>
          </a:bodyPr>
          <a:lstStyle/>
          <a:p>
            <a:pPr marL="457200" indent="-457200">
              <a:buAutoNum type="arabicPeriod"/>
            </a:pPr>
            <a:r>
              <a:rPr lang="en-US" b="1"/>
              <a:t>Dataset Overview</a:t>
            </a:r>
          </a:p>
          <a:p>
            <a:pPr marL="914400" lvl="1" indent="-457200">
              <a:buFont typeface="Courier New"/>
              <a:buChar char="o"/>
            </a:pPr>
            <a:r>
              <a:rPr lang="en-US"/>
              <a:t>We worked with the Breast Cancer Wisconsin (Diagnostic) dataset, created by </a:t>
            </a:r>
            <a:r>
              <a:rPr lang="en-US">
                <a:ea typeface="+mn-lt"/>
                <a:cs typeface="+mn-lt"/>
              </a:rPr>
              <a:t>William H. Wolberg together with collaborators Nick Street and </a:t>
            </a:r>
            <a:r>
              <a:rPr lang="en-US" err="1">
                <a:ea typeface="+mn-lt"/>
                <a:cs typeface="+mn-lt"/>
              </a:rPr>
              <a:t>Olvi</a:t>
            </a:r>
            <a:r>
              <a:rPr lang="en-US">
                <a:ea typeface="+mn-lt"/>
                <a:cs typeface="+mn-lt"/>
              </a:rPr>
              <a:t> Mangasarian</a:t>
            </a:r>
            <a:r>
              <a:rPr lang="en-US"/>
              <a:t> at the University of Wisconsin Hospitals.</a:t>
            </a:r>
            <a:endParaRPr lang="en-US">
              <a:highlight>
                <a:srgbClr val="FFFF00"/>
              </a:highlight>
            </a:endParaRPr>
          </a:p>
          <a:p>
            <a:pPr marL="914400" lvl="1" indent="-457200">
              <a:buFont typeface="Courier New"/>
              <a:buChar char="o"/>
            </a:pPr>
            <a:r>
              <a:rPr lang="en-US"/>
              <a:t>The dataset  consists of 30 different variables. These features (radius, concavity, concave points, etc.) describe characteristics of the cell nuclei of the mass. </a:t>
            </a:r>
            <a:endParaRPr lang="en-US">
              <a:solidFill>
                <a:srgbClr val="303030"/>
              </a:solidFill>
              <a:ea typeface="+mn-lt"/>
              <a:cs typeface="+mn-lt"/>
            </a:endParaRPr>
          </a:p>
          <a:p>
            <a:pPr marL="457200" indent="-457200">
              <a:buAutoNum type="arabicPeriod"/>
            </a:pPr>
            <a:r>
              <a:rPr lang="en-US" b="1"/>
              <a:t>Project Goals</a:t>
            </a:r>
          </a:p>
          <a:p>
            <a:pPr marL="914400" lvl="1" indent="-457200">
              <a:buFont typeface="Courier New" panose="020B0604020202020204" pitchFamily="34" charset="0"/>
              <a:buChar char="o"/>
            </a:pPr>
            <a:r>
              <a:rPr lang="en-US"/>
              <a:t>Can we build a machine learning model to accurately predict whether a tumor is malignant or benign?</a:t>
            </a:r>
          </a:p>
          <a:p>
            <a:pPr marL="914400" lvl="1" indent="-457200">
              <a:buFont typeface="Courier New" panose="020B0604020202020204" pitchFamily="34" charset="0"/>
              <a:buChar char="o"/>
            </a:pPr>
            <a:r>
              <a:rPr lang="en-US"/>
              <a:t>Which features are the strongest indicators of malignancy?</a:t>
            </a:r>
          </a:p>
          <a:p>
            <a:pPr marL="914400" lvl="1" indent="-457200">
              <a:buFont typeface="Courier New" panose="020B0604020202020204" pitchFamily="34" charset="0"/>
              <a:buChar char="o"/>
            </a:pPr>
            <a:endParaRPr lang="en-US"/>
          </a:p>
          <a:p>
            <a:pPr marL="914400" lvl="1" indent="-457200">
              <a:buFont typeface="Courier New" panose="020B0604020202020204" pitchFamily="34" charset="0"/>
              <a:buChar char="o"/>
            </a:pPr>
            <a:endParaRPr lang="en-US"/>
          </a:p>
          <a:p>
            <a:pPr marL="914400" lvl="1" indent="-457200">
              <a:buFont typeface="Courier New" panose="020B0604020202020204" pitchFamily="34" charset="0"/>
              <a:buChar char="o"/>
            </a:pPr>
            <a:endParaRPr lang="en-US"/>
          </a:p>
          <a:p>
            <a:pPr marL="914400" lvl="1" indent="-457200">
              <a:buFont typeface="Courier New"/>
              <a:buChar char="o"/>
            </a:pPr>
            <a:endParaRPr lang="en-US"/>
          </a:p>
          <a:p>
            <a:pPr marL="914400" lvl="1" indent="-457200">
              <a:buFont typeface="Courier New"/>
              <a:buChar char="o"/>
            </a:pPr>
            <a:endParaRPr lang="en-US"/>
          </a:p>
        </p:txBody>
      </p:sp>
      <p:cxnSp>
        <p:nvCxnSpPr>
          <p:cNvPr id="21" name="Straight Connector 20">
            <a:extLst>
              <a:ext uri="{FF2B5EF4-FFF2-40B4-BE49-F238E27FC236}">
                <a16:creationId xmlns:a16="http://schemas.microsoft.com/office/drawing/2014/main" id="{4514FD1B-A0BF-4C73-A68E-4B1F7299F6A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8B100A6-1EBC-40AB-BB7E-26807F3CFC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852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F4B6F-BDF8-2F82-2EF1-F029B57AE4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756F06-1C20-8054-1531-1C196D07D575}"/>
              </a:ext>
            </a:extLst>
          </p:cNvPr>
          <p:cNvSpPr>
            <a:spLocks noGrp="1"/>
          </p:cNvSpPr>
          <p:nvPr>
            <p:ph type="title"/>
          </p:nvPr>
        </p:nvSpPr>
        <p:spPr>
          <a:xfrm>
            <a:off x="700635" y="914400"/>
            <a:ext cx="10691265" cy="837866"/>
          </a:xfrm>
        </p:spPr>
        <p:txBody>
          <a:bodyPr>
            <a:normAutofit/>
          </a:bodyPr>
          <a:lstStyle/>
          <a:p>
            <a:r>
              <a:rPr lang="en-US" sz="3600"/>
              <a:t>Data description</a:t>
            </a:r>
          </a:p>
        </p:txBody>
      </p:sp>
      <p:sp>
        <p:nvSpPr>
          <p:cNvPr id="3" name="Content Placeholder 2">
            <a:extLst>
              <a:ext uri="{FF2B5EF4-FFF2-40B4-BE49-F238E27FC236}">
                <a16:creationId xmlns:a16="http://schemas.microsoft.com/office/drawing/2014/main" id="{9A1F4BFF-1EBD-F762-4781-F332B8A4029D}"/>
              </a:ext>
            </a:extLst>
          </p:cNvPr>
          <p:cNvSpPr>
            <a:spLocks noGrp="1"/>
          </p:cNvSpPr>
          <p:nvPr>
            <p:ph idx="1"/>
          </p:nvPr>
        </p:nvSpPr>
        <p:spPr>
          <a:xfrm>
            <a:off x="700635" y="1961034"/>
            <a:ext cx="10691265" cy="4000854"/>
          </a:xfrm>
        </p:spPr>
        <p:txBody>
          <a:bodyPr vert="horz" lIns="91440" tIns="45720" rIns="91440" bIns="45720" rtlCol="0" anchor="t">
            <a:noAutofit/>
          </a:bodyPr>
          <a:lstStyle/>
          <a:p>
            <a:pPr marL="0" indent="0">
              <a:buNone/>
            </a:pPr>
            <a:endParaRPr lang="en-US" sz="800" b="1"/>
          </a:p>
          <a:p>
            <a:pPr marL="0" indent="0">
              <a:buNone/>
            </a:pPr>
            <a:r>
              <a:rPr lang="en-US" sz="2800" b="1"/>
              <a:t>Breast Cancer Wisconsin data set</a:t>
            </a:r>
          </a:p>
          <a:p>
            <a:r>
              <a:rPr lang="en-US" sz="2800">
                <a:latin typeface="Calisto MT"/>
                <a:ea typeface="Calibri"/>
                <a:cs typeface="Calibri"/>
              </a:rPr>
              <a:t>US Irvine Machine Learning Repository</a:t>
            </a:r>
          </a:p>
          <a:p>
            <a:r>
              <a:rPr lang="en-US" sz="2800">
                <a:latin typeface="Calisto MT"/>
                <a:ea typeface="Calibri"/>
                <a:cs typeface="Calibri"/>
              </a:rPr>
              <a:t>Dr. William Wolberg collected samples and performed diagnosis</a:t>
            </a:r>
          </a:p>
          <a:p>
            <a:r>
              <a:rPr lang="en-US" sz="2800">
                <a:latin typeface="Calisto MT"/>
                <a:ea typeface="Calibri"/>
                <a:cs typeface="Calibri"/>
              </a:rPr>
              <a:t>Dr. Nick Street and Dr. </a:t>
            </a:r>
            <a:r>
              <a:rPr lang="en-US" sz="2800" err="1">
                <a:latin typeface="Calisto MT"/>
                <a:ea typeface="Calibri"/>
                <a:cs typeface="Calibri"/>
              </a:rPr>
              <a:t>Olvi</a:t>
            </a:r>
            <a:r>
              <a:rPr lang="en-US" sz="2800">
                <a:latin typeface="Calisto MT"/>
                <a:ea typeface="Calibri"/>
                <a:cs typeface="Calibri"/>
              </a:rPr>
              <a:t> Mangasarian digitized and analyzed</a:t>
            </a:r>
          </a:p>
          <a:p>
            <a:endParaRPr lang="en-US" sz="2800">
              <a:ea typeface="Calibri"/>
              <a:cs typeface="Calibri"/>
            </a:endParaRPr>
          </a:p>
          <a:p>
            <a:endParaRPr lang="en-US" sz="2800">
              <a:ea typeface="Calibri"/>
              <a:cs typeface="Calibri"/>
            </a:endParaRPr>
          </a:p>
          <a:p>
            <a:pPr marL="457200" indent="-457200"/>
            <a:endParaRPr lang="en-US" sz="2800" b="1"/>
          </a:p>
          <a:p>
            <a:endParaRPr lang="en-US"/>
          </a:p>
        </p:txBody>
      </p:sp>
    </p:spTree>
    <p:extLst>
      <p:ext uri="{BB962C8B-B14F-4D97-AF65-F5344CB8AC3E}">
        <p14:creationId xmlns:p14="http://schemas.microsoft.com/office/powerpoint/2010/main" val="3572213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41ACC-B386-625A-C9D5-FC942A3503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2EB78-77B8-2A41-A06F-879F1D8D42E0}"/>
              </a:ext>
            </a:extLst>
          </p:cNvPr>
          <p:cNvSpPr>
            <a:spLocks noGrp="1"/>
          </p:cNvSpPr>
          <p:nvPr>
            <p:ph type="title"/>
          </p:nvPr>
        </p:nvSpPr>
        <p:spPr>
          <a:xfrm>
            <a:off x="700635" y="914400"/>
            <a:ext cx="10691265" cy="837866"/>
          </a:xfrm>
        </p:spPr>
        <p:txBody>
          <a:bodyPr>
            <a:normAutofit/>
          </a:bodyPr>
          <a:lstStyle/>
          <a:p>
            <a:r>
              <a:rPr lang="en-US" sz="3600"/>
              <a:t>Data description</a:t>
            </a:r>
          </a:p>
        </p:txBody>
      </p:sp>
      <p:sp>
        <p:nvSpPr>
          <p:cNvPr id="3" name="Content Placeholder 2">
            <a:extLst>
              <a:ext uri="{FF2B5EF4-FFF2-40B4-BE49-F238E27FC236}">
                <a16:creationId xmlns:a16="http://schemas.microsoft.com/office/drawing/2014/main" id="{C1A33122-F294-4C23-224A-75BC599E154B}"/>
              </a:ext>
            </a:extLst>
          </p:cNvPr>
          <p:cNvSpPr>
            <a:spLocks noGrp="1"/>
          </p:cNvSpPr>
          <p:nvPr>
            <p:ph idx="1"/>
          </p:nvPr>
        </p:nvSpPr>
        <p:spPr>
          <a:xfrm>
            <a:off x="700635" y="1689637"/>
            <a:ext cx="10691265" cy="4272251"/>
          </a:xfrm>
        </p:spPr>
        <p:txBody>
          <a:bodyPr vert="horz" lIns="91440" tIns="45720" rIns="91440" bIns="45720" rtlCol="0" anchor="t">
            <a:noAutofit/>
          </a:bodyPr>
          <a:lstStyle/>
          <a:p>
            <a:pPr marL="0" indent="0">
              <a:buNone/>
            </a:pPr>
            <a:endParaRPr lang="en-US" sz="800" b="1"/>
          </a:p>
          <a:p>
            <a:pPr marL="0" indent="0">
              <a:buNone/>
            </a:pPr>
            <a:r>
              <a:rPr lang="en-US" sz="2800" b="1"/>
              <a:t>Breast Cancer Wisconsin data set</a:t>
            </a:r>
          </a:p>
          <a:p>
            <a:r>
              <a:rPr lang="en-US" sz="2800">
                <a:latin typeface="Calisto MT"/>
                <a:ea typeface="Calibri"/>
                <a:cs typeface="Calibri"/>
              </a:rPr>
              <a:t>30 numeric feature columns</a:t>
            </a:r>
          </a:p>
          <a:p>
            <a:pPr lvl="1" indent="-457200">
              <a:buFont typeface="Courier New" panose="020B0604020202020204" pitchFamily="34" charset="0"/>
              <a:buChar char="o"/>
            </a:pPr>
            <a:r>
              <a:rPr lang="en-US" sz="2600">
                <a:ea typeface="Calibri"/>
                <a:cs typeface="Calibri"/>
              </a:rPr>
              <a:t>First 10 mean of characteristics</a:t>
            </a:r>
          </a:p>
          <a:p>
            <a:pPr lvl="1" indent="-457200">
              <a:buFont typeface="Courier New" panose="020B0604020202020204" pitchFamily="34" charset="0"/>
              <a:buChar char="o"/>
            </a:pPr>
            <a:r>
              <a:rPr lang="en-US" sz="2600">
                <a:ea typeface="Calibri"/>
                <a:cs typeface="Calibri"/>
              </a:rPr>
              <a:t>Second 10 standard deviation</a:t>
            </a:r>
          </a:p>
          <a:p>
            <a:pPr lvl="1" indent="-457200">
              <a:buFont typeface="Courier New" panose="020B0604020202020204" pitchFamily="34" charset="0"/>
              <a:buChar char="o"/>
            </a:pPr>
            <a:r>
              <a:rPr lang="en-US" sz="2600">
                <a:ea typeface="Calibri"/>
                <a:cs typeface="Calibri"/>
              </a:rPr>
              <a:t>Third 10 "worst"</a:t>
            </a:r>
          </a:p>
          <a:p>
            <a:r>
              <a:rPr lang="en-US" sz="2800">
                <a:ea typeface="Calibri"/>
                <a:cs typeface="Calibri"/>
              </a:rPr>
              <a:t>1 diagnosis column (M, B)</a:t>
            </a:r>
          </a:p>
          <a:p>
            <a:r>
              <a:rPr lang="en-US" sz="2800">
                <a:ea typeface="Calibri"/>
                <a:cs typeface="Calibri"/>
              </a:rPr>
              <a:t>569 instances</a:t>
            </a:r>
          </a:p>
          <a:p>
            <a:endParaRPr lang="en-US" sz="2800">
              <a:ea typeface="Calibri"/>
              <a:cs typeface="Calibri"/>
            </a:endParaRPr>
          </a:p>
          <a:p>
            <a:endParaRPr lang="en-US" sz="2800">
              <a:ea typeface="Calibri"/>
              <a:cs typeface="Calibri"/>
            </a:endParaRPr>
          </a:p>
          <a:p>
            <a:pPr marL="457200" indent="-457200"/>
            <a:endParaRPr lang="en-US" sz="2800" b="1">
              <a:ea typeface="Calibri"/>
              <a:cs typeface="Calibri"/>
            </a:endParaRPr>
          </a:p>
          <a:p>
            <a:endParaRPr lang="en-US"/>
          </a:p>
        </p:txBody>
      </p:sp>
    </p:spTree>
    <p:extLst>
      <p:ext uri="{BB962C8B-B14F-4D97-AF65-F5344CB8AC3E}">
        <p14:creationId xmlns:p14="http://schemas.microsoft.com/office/powerpoint/2010/main" val="2710947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7880C-AF3D-CD00-17D8-7F927F1D96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490510-F8F6-FD71-AD4B-A8C4028BB2D7}"/>
              </a:ext>
            </a:extLst>
          </p:cNvPr>
          <p:cNvSpPr>
            <a:spLocks noGrp="1"/>
          </p:cNvSpPr>
          <p:nvPr>
            <p:ph type="title"/>
          </p:nvPr>
        </p:nvSpPr>
        <p:spPr>
          <a:xfrm>
            <a:off x="700635" y="914400"/>
            <a:ext cx="10691265" cy="837866"/>
          </a:xfrm>
        </p:spPr>
        <p:txBody>
          <a:bodyPr>
            <a:normAutofit/>
          </a:bodyPr>
          <a:lstStyle/>
          <a:p>
            <a:r>
              <a:rPr lang="en-US" sz="3600"/>
              <a:t>Data description</a:t>
            </a:r>
          </a:p>
        </p:txBody>
      </p:sp>
      <p:sp>
        <p:nvSpPr>
          <p:cNvPr id="3" name="Content Placeholder 2">
            <a:extLst>
              <a:ext uri="{FF2B5EF4-FFF2-40B4-BE49-F238E27FC236}">
                <a16:creationId xmlns:a16="http://schemas.microsoft.com/office/drawing/2014/main" id="{B01E21B6-78F9-2AB0-C477-2D8ED8577AC9}"/>
              </a:ext>
            </a:extLst>
          </p:cNvPr>
          <p:cNvSpPr>
            <a:spLocks noGrp="1"/>
          </p:cNvSpPr>
          <p:nvPr>
            <p:ph idx="1"/>
          </p:nvPr>
        </p:nvSpPr>
        <p:spPr>
          <a:xfrm>
            <a:off x="700635" y="1689637"/>
            <a:ext cx="10691265" cy="4272251"/>
          </a:xfrm>
        </p:spPr>
        <p:txBody>
          <a:bodyPr vert="horz" lIns="91440" tIns="45720" rIns="91440" bIns="45720" rtlCol="0" anchor="t">
            <a:noAutofit/>
          </a:bodyPr>
          <a:lstStyle/>
          <a:p>
            <a:pPr marL="0" indent="0">
              <a:buNone/>
            </a:pPr>
            <a:endParaRPr lang="en-US" sz="800" b="1"/>
          </a:p>
          <a:p>
            <a:pPr marL="0" indent="0">
              <a:buNone/>
            </a:pPr>
            <a:r>
              <a:rPr lang="en-US" sz="2800" b="1"/>
              <a:t>Breast Cancer Wisconsin data set</a:t>
            </a:r>
          </a:p>
          <a:p>
            <a:r>
              <a:rPr lang="en-US" sz="2800">
                <a:latin typeface="Calisto MT"/>
                <a:ea typeface="Calibri"/>
                <a:cs typeface="Calibri"/>
              </a:rPr>
              <a:t>Informed consent</a:t>
            </a:r>
            <a:endParaRPr lang="en-US" sz="2800">
              <a:ea typeface="Calibri"/>
              <a:cs typeface="Calibri"/>
            </a:endParaRPr>
          </a:p>
          <a:p>
            <a:pPr lvl="1" indent="-457200">
              <a:buFont typeface="Courier New" panose="020B0604020202020204" pitchFamily="34" charset="0"/>
              <a:buChar char="o"/>
            </a:pPr>
            <a:r>
              <a:rPr lang="en-US" sz="2600">
                <a:ea typeface="Calibri"/>
                <a:cs typeface="Calibri"/>
              </a:rPr>
              <a:t>University of Wisconsin Hospitals study</a:t>
            </a:r>
          </a:p>
          <a:p>
            <a:pPr lvl="1" indent="-457200">
              <a:buFont typeface="Courier New" panose="020B0604020202020204" pitchFamily="34" charset="0"/>
              <a:buChar char="o"/>
            </a:pPr>
            <a:r>
              <a:rPr lang="en-US" sz="2600">
                <a:ea typeface="Calibri"/>
                <a:cs typeface="Calibri"/>
              </a:rPr>
              <a:t>Collected for diagnostic purposes</a:t>
            </a:r>
          </a:p>
          <a:p>
            <a:pPr lvl="1" indent="-457200">
              <a:buFont typeface="Courier New" panose="020B0604020202020204" pitchFamily="34" charset="0"/>
              <a:buChar char="o"/>
            </a:pPr>
            <a:r>
              <a:rPr lang="en-US" sz="2600">
                <a:ea typeface="Calibri"/>
                <a:cs typeface="Calibri"/>
              </a:rPr>
              <a:t>Waivers</a:t>
            </a:r>
          </a:p>
          <a:p>
            <a:pPr lvl="2" indent="-457200">
              <a:buFont typeface="Wingdings" panose="020B0604020202020204" pitchFamily="34" charset="0"/>
              <a:buChar char="§"/>
            </a:pPr>
            <a:r>
              <a:rPr lang="en-US" sz="2400">
                <a:ea typeface="Calibri"/>
                <a:cs typeface="Calibri"/>
              </a:rPr>
              <a:t>Retrospective, anonymized, compliant with HIPAA</a:t>
            </a:r>
          </a:p>
          <a:p>
            <a:pPr indent="-457200"/>
            <a:r>
              <a:rPr lang="en-US" sz="2800">
                <a:ea typeface="Calibri"/>
                <a:cs typeface="Calibri"/>
              </a:rPr>
              <a:t>No personal information</a:t>
            </a:r>
          </a:p>
          <a:p>
            <a:pPr lvl="2">
              <a:buFont typeface="Wingdings" panose="020B0604020202020204" pitchFamily="34" charset="0"/>
              <a:buChar char="§"/>
            </a:pPr>
            <a:endParaRPr lang="en-US" sz="2400">
              <a:ea typeface="Calibri"/>
              <a:cs typeface="Calibri"/>
            </a:endParaRPr>
          </a:p>
          <a:p>
            <a:pPr lvl="1" indent="-457200">
              <a:buFont typeface="Courier New" panose="020B0604020202020204" pitchFamily="34" charset="0"/>
              <a:buChar char="o"/>
            </a:pPr>
            <a:endParaRPr lang="en-US" sz="2600">
              <a:ea typeface="Calibri"/>
              <a:cs typeface="Calibri"/>
            </a:endParaRPr>
          </a:p>
          <a:p>
            <a:endParaRPr lang="en-US" sz="2800">
              <a:ea typeface="Calibri"/>
              <a:cs typeface="Calibri"/>
            </a:endParaRPr>
          </a:p>
          <a:p>
            <a:endParaRPr lang="en-US" sz="2800">
              <a:ea typeface="Calibri"/>
              <a:cs typeface="Calibri"/>
            </a:endParaRPr>
          </a:p>
          <a:p>
            <a:pPr marL="457200" indent="-457200"/>
            <a:endParaRPr lang="en-US" sz="2800" b="1">
              <a:ea typeface="Calibri"/>
              <a:cs typeface="Calibri"/>
            </a:endParaRPr>
          </a:p>
          <a:p>
            <a:endParaRPr lang="en-US">
              <a:ea typeface="Calibri"/>
              <a:cs typeface="Calibri"/>
            </a:endParaRPr>
          </a:p>
        </p:txBody>
      </p:sp>
    </p:spTree>
    <p:extLst>
      <p:ext uri="{BB962C8B-B14F-4D97-AF65-F5344CB8AC3E}">
        <p14:creationId xmlns:p14="http://schemas.microsoft.com/office/powerpoint/2010/main" val="154246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2F5E4-5C51-DB40-1890-B028A82E4EB5}"/>
              </a:ext>
            </a:extLst>
          </p:cNvPr>
          <p:cNvSpPr>
            <a:spLocks noGrp="1"/>
          </p:cNvSpPr>
          <p:nvPr>
            <p:ph type="title"/>
          </p:nvPr>
        </p:nvSpPr>
        <p:spPr/>
        <p:txBody>
          <a:bodyPr/>
          <a:lstStyle/>
          <a:p>
            <a:r>
              <a:rPr lang="en-US"/>
              <a:t>Data Preparation</a:t>
            </a:r>
          </a:p>
        </p:txBody>
      </p:sp>
      <p:sp>
        <p:nvSpPr>
          <p:cNvPr id="3" name="Content Placeholder 2">
            <a:extLst>
              <a:ext uri="{FF2B5EF4-FFF2-40B4-BE49-F238E27FC236}">
                <a16:creationId xmlns:a16="http://schemas.microsoft.com/office/drawing/2014/main" id="{F3E757E8-2BB2-2A25-D662-104CE5B7138D}"/>
              </a:ext>
            </a:extLst>
          </p:cNvPr>
          <p:cNvSpPr>
            <a:spLocks noGrp="1"/>
          </p:cNvSpPr>
          <p:nvPr>
            <p:ph idx="1"/>
          </p:nvPr>
        </p:nvSpPr>
        <p:spPr/>
        <p:txBody>
          <a:bodyPr vert="horz" lIns="91440" tIns="45720" rIns="91440" bIns="45720" rtlCol="0" anchor="t">
            <a:normAutofit/>
          </a:bodyPr>
          <a:lstStyle/>
          <a:p>
            <a:pPr marL="457200" indent="-457200">
              <a:buAutoNum type="arabicPeriod"/>
            </a:pPr>
            <a:r>
              <a:rPr lang="en-US" b="1">
                <a:ea typeface="+mn-lt"/>
                <a:cs typeface="+mn-lt"/>
              </a:rPr>
              <a:t>Checked for missing values</a:t>
            </a:r>
          </a:p>
          <a:p>
            <a:pPr marL="914400" lvl="1" indent="-457200">
              <a:buFont typeface="Courier New" panose="020B0604020202020204" pitchFamily="34" charset="0"/>
              <a:buChar char="o"/>
            </a:pPr>
            <a:r>
              <a:rPr lang="en-US">
                <a:ea typeface="+mn-lt"/>
                <a:cs typeface="+mn-lt"/>
              </a:rPr>
              <a:t>Verified that all 569 observations had complete data with no null entries.</a:t>
            </a:r>
          </a:p>
          <a:p>
            <a:pPr marL="914400" lvl="1" indent="-457200">
              <a:buFont typeface="Courier New" panose="020B0604020202020204" pitchFamily="34" charset="0"/>
              <a:buChar char="o"/>
            </a:pPr>
            <a:r>
              <a:rPr lang="en-US">
                <a:ea typeface="+mn-lt"/>
                <a:cs typeface="+mn-lt"/>
              </a:rPr>
              <a:t>Checked for invalid or negative values</a:t>
            </a:r>
          </a:p>
          <a:p>
            <a:pPr marL="914400" lvl="1" indent="-457200">
              <a:buFont typeface="Courier New" panose="020B0604020202020204" pitchFamily="34" charset="0"/>
              <a:buChar char="o"/>
            </a:pPr>
            <a:r>
              <a:rPr lang="en-US">
                <a:ea typeface="+mn-lt"/>
                <a:cs typeface="+mn-lt"/>
              </a:rPr>
              <a:t>Confirmed that all feature measurements (e.g., radius, area, concavity) were within valid biological ranges.</a:t>
            </a:r>
            <a:endParaRPr lang="en-US"/>
          </a:p>
          <a:p>
            <a:pPr marL="457200" indent="-457200">
              <a:buAutoNum type="arabicPeriod"/>
            </a:pPr>
            <a:r>
              <a:rPr lang="en-US" b="1">
                <a:ea typeface="+mn-lt"/>
                <a:cs typeface="+mn-lt"/>
              </a:rPr>
              <a:t>Considered multicollinearity between features</a:t>
            </a:r>
            <a:endParaRPr lang="en-US">
              <a:ea typeface="+mn-lt"/>
              <a:cs typeface="+mn-lt"/>
            </a:endParaRPr>
          </a:p>
          <a:p>
            <a:pPr marL="914400" lvl="1" indent="-457200">
              <a:buFont typeface="Courier New" panose="020B0604020202020204" pitchFamily="34" charset="0"/>
              <a:buChar char="o"/>
            </a:pPr>
            <a:r>
              <a:rPr lang="en-US">
                <a:ea typeface="+mn-lt"/>
                <a:cs typeface="+mn-lt"/>
              </a:rPr>
              <a:t>Many features (e.g., radius, perimeter, area) measure similar properties and are highly correlated.</a:t>
            </a:r>
            <a:endParaRPr lang="en-US"/>
          </a:p>
          <a:p>
            <a:pPr marL="914400" lvl="1" indent="-457200">
              <a:buFont typeface="Courier New" panose="020B0604020202020204" pitchFamily="34" charset="0"/>
              <a:buChar char="o"/>
            </a:pPr>
            <a:r>
              <a:rPr lang="en-US"/>
              <a:t>We chose robust modeling approaches</a:t>
            </a:r>
          </a:p>
          <a:p>
            <a:pPr marL="914400" lvl="1" indent="-457200">
              <a:buFont typeface="Courier New" panose="020B0604020202020204" pitchFamily="34" charset="0"/>
              <a:buChar char="o"/>
            </a:pPr>
            <a:endParaRPr lang="en-US"/>
          </a:p>
        </p:txBody>
      </p:sp>
    </p:spTree>
    <p:extLst>
      <p:ext uri="{BB962C8B-B14F-4D97-AF65-F5344CB8AC3E}">
        <p14:creationId xmlns:p14="http://schemas.microsoft.com/office/powerpoint/2010/main" val="2050867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543BE-959C-DE67-96D9-BD6BEE6923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83E72A-42BF-371C-2F8A-FE7134C1C985}"/>
              </a:ext>
            </a:extLst>
          </p:cNvPr>
          <p:cNvSpPr>
            <a:spLocks noGrp="1"/>
          </p:cNvSpPr>
          <p:nvPr>
            <p:ph type="title"/>
          </p:nvPr>
        </p:nvSpPr>
        <p:spPr>
          <a:xfrm>
            <a:off x="700635" y="914400"/>
            <a:ext cx="10691265" cy="837866"/>
          </a:xfrm>
        </p:spPr>
        <p:txBody>
          <a:bodyPr>
            <a:normAutofit/>
          </a:bodyPr>
          <a:lstStyle/>
          <a:p>
            <a:r>
              <a:rPr lang="en-US"/>
              <a:t>Analysis methods </a:t>
            </a:r>
            <a:endParaRPr lang="en-US" sz="3600"/>
          </a:p>
        </p:txBody>
      </p:sp>
      <p:sp>
        <p:nvSpPr>
          <p:cNvPr id="3" name="Content Placeholder 2">
            <a:extLst>
              <a:ext uri="{FF2B5EF4-FFF2-40B4-BE49-F238E27FC236}">
                <a16:creationId xmlns:a16="http://schemas.microsoft.com/office/drawing/2014/main" id="{D7CD9BCF-EB7C-4C8E-79F1-6FACBD905067}"/>
              </a:ext>
            </a:extLst>
          </p:cNvPr>
          <p:cNvSpPr>
            <a:spLocks noGrp="1"/>
          </p:cNvSpPr>
          <p:nvPr>
            <p:ph idx="1"/>
          </p:nvPr>
        </p:nvSpPr>
        <p:spPr>
          <a:xfrm>
            <a:off x="700635" y="1961034"/>
            <a:ext cx="10691265" cy="4000854"/>
          </a:xfrm>
        </p:spPr>
        <p:txBody>
          <a:bodyPr vert="horz" lIns="91440" tIns="45720" rIns="91440" bIns="45720" rtlCol="0" anchor="t">
            <a:noAutofit/>
          </a:bodyPr>
          <a:lstStyle/>
          <a:p>
            <a:pPr marL="0" indent="0">
              <a:buNone/>
            </a:pPr>
            <a:endParaRPr lang="en-US" sz="800" b="1"/>
          </a:p>
          <a:p>
            <a:pPr marL="0" indent="0">
              <a:buNone/>
            </a:pPr>
            <a:r>
              <a:rPr lang="en-US" sz="2800" b="1"/>
              <a:t>Supervised learning</a:t>
            </a:r>
          </a:p>
          <a:p>
            <a:r>
              <a:rPr lang="en-US" sz="2800">
                <a:latin typeface="Calisto MT"/>
                <a:ea typeface="Calibri"/>
                <a:cs typeface="Calibri"/>
              </a:rPr>
              <a:t>Single input logistic regression</a:t>
            </a:r>
          </a:p>
          <a:p>
            <a:r>
              <a:rPr lang="en-US" sz="2800">
                <a:latin typeface="Calisto MT"/>
                <a:ea typeface="Calibri"/>
                <a:cs typeface="Calibri"/>
              </a:rPr>
              <a:t>Multiple input logistic regression</a:t>
            </a:r>
          </a:p>
          <a:p>
            <a:r>
              <a:rPr lang="en-US" sz="2800">
                <a:latin typeface="Calisto MT"/>
                <a:ea typeface="Calibri"/>
                <a:cs typeface="Calibri"/>
              </a:rPr>
              <a:t>Random forest classification</a:t>
            </a:r>
          </a:p>
          <a:p>
            <a:r>
              <a:rPr lang="en-US" sz="2800" err="1">
                <a:ea typeface="Calibri"/>
                <a:cs typeface="Calibri"/>
              </a:rPr>
              <a:t>XGBoost</a:t>
            </a:r>
          </a:p>
          <a:p>
            <a:pPr marL="457200" indent="-457200"/>
            <a:endParaRPr lang="en-US" sz="2800" b="1"/>
          </a:p>
          <a:p>
            <a:endParaRPr lang="en-US"/>
          </a:p>
        </p:txBody>
      </p:sp>
    </p:spTree>
    <p:extLst>
      <p:ext uri="{BB962C8B-B14F-4D97-AF65-F5344CB8AC3E}">
        <p14:creationId xmlns:p14="http://schemas.microsoft.com/office/powerpoint/2010/main" val="1251100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ED400-7338-A755-1AB0-28AD59A22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15F741-1040-B831-FBC8-A8CF0AE572E3}"/>
              </a:ext>
            </a:extLst>
          </p:cNvPr>
          <p:cNvSpPr>
            <a:spLocks noGrp="1"/>
          </p:cNvSpPr>
          <p:nvPr>
            <p:ph type="title"/>
          </p:nvPr>
        </p:nvSpPr>
        <p:spPr/>
        <p:txBody>
          <a:bodyPr>
            <a:normAutofit/>
          </a:bodyPr>
          <a:lstStyle/>
          <a:p>
            <a:r>
              <a:rPr lang="en-US"/>
              <a:t>Findings: Single input Model </a:t>
            </a:r>
            <a:r>
              <a:rPr lang="en-US" sz="3600"/>
              <a:t>(Radius 1)</a:t>
            </a:r>
            <a:br>
              <a:rPr lang="en-US" sz="3600"/>
            </a:br>
            <a:r>
              <a:rPr lang="en-US" sz="3600"/>
              <a:t>logistic regression</a:t>
            </a:r>
          </a:p>
        </p:txBody>
      </p:sp>
      <p:sp>
        <p:nvSpPr>
          <p:cNvPr id="3" name="Content Placeholder 2">
            <a:extLst>
              <a:ext uri="{FF2B5EF4-FFF2-40B4-BE49-F238E27FC236}">
                <a16:creationId xmlns:a16="http://schemas.microsoft.com/office/drawing/2014/main" id="{B76E954F-8008-F3F1-F80B-1D3E1F4267E6}"/>
              </a:ext>
            </a:extLst>
          </p:cNvPr>
          <p:cNvSpPr>
            <a:spLocks noGrp="1"/>
          </p:cNvSpPr>
          <p:nvPr>
            <p:ph idx="1"/>
          </p:nvPr>
        </p:nvSpPr>
        <p:spPr/>
        <p:txBody>
          <a:bodyPr vert="horz" lIns="91440" tIns="45720" rIns="91440" bIns="45720" rtlCol="0" anchor="t">
            <a:noAutofit/>
          </a:bodyPr>
          <a:lstStyle/>
          <a:p>
            <a:pPr marL="0" indent="0">
              <a:buNone/>
            </a:pPr>
            <a:endParaRPr lang="en-US" sz="800" b="1"/>
          </a:p>
          <a:p>
            <a:pPr marL="0" indent="0">
              <a:buNone/>
            </a:pPr>
            <a:r>
              <a:rPr lang="en-US" sz="2800" b="1"/>
              <a:t>Accuracy: </a:t>
            </a:r>
            <a:endParaRPr lang="en-US" sz="2800"/>
          </a:p>
          <a:p>
            <a:r>
              <a:rPr lang="en-US" sz="2800" b="1"/>
              <a:t>89.47%</a:t>
            </a:r>
            <a:r>
              <a:rPr lang="en-US" sz="2800"/>
              <a:t> of the model's predictions matched the actual diagnosis</a:t>
            </a:r>
          </a:p>
          <a:p>
            <a:pPr marL="0" indent="0">
              <a:buNone/>
            </a:pPr>
            <a:endParaRPr lang="en-US" sz="1600"/>
          </a:p>
          <a:p>
            <a:pPr marL="0" indent="0">
              <a:buNone/>
            </a:pPr>
            <a:r>
              <a:rPr lang="en-US" sz="2800" b="1"/>
              <a:t>AUC </a:t>
            </a:r>
            <a:r>
              <a:rPr lang="en-US" sz="2800"/>
              <a:t> (Area Under the ROC Curve)</a:t>
            </a:r>
          </a:p>
          <a:p>
            <a:r>
              <a:rPr lang="en-US" sz="2800" b="1">
                <a:latin typeface="Calisto MT"/>
                <a:ea typeface="Calibri"/>
                <a:cs typeface="Calibri"/>
              </a:rPr>
              <a:t>94.97%</a:t>
            </a:r>
            <a:r>
              <a:rPr lang="en-US" sz="2800">
                <a:latin typeface="Calisto MT"/>
                <a:ea typeface="Calibri"/>
                <a:cs typeface="Calibri"/>
              </a:rPr>
              <a:t> of the time, the model gives a higher malignancy score to an actual malignant tumor than to a benign one.</a:t>
            </a:r>
          </a:p>
          <a:p>
            <a:pPr marL="457200" indent="-457200"/>
            <a:endParaRPr lang="en-US" sz="2800" b="1"/>
          </a:p>
          <a:p>
            <a:endParaRPr lang="en-US"/>
          </a:p>
        </p:txBody>
      </p:sp>
    </p:spTree>
    <p:extLst>
      <p:ext uri="{BB962C8B-B14F-4D97-AF65-F5344CB8AC3E}">
        <p14:creationId xmlns:p14="http://schemas.microsoft.com/office/powerpoint/2010/main" val="3155935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7F831F-7462-083D-E1CD-4EA31E2D75E0}"/>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319D8B-4D41-7750-B57E-E5002E9FE357}"/>
              </a:ext>
            </a:extLst>
          </p:cNvPr>
          <p:cNvSpPr>
            <a:spLocks noGrp="1"/>
          </p:cNvSpPr>
          <p:nvPr>
            <p:ph type="title"/>
          </p:nvPr>
        </p:nvSpPr>
        <p:spPr>
          <a:xfrm>
            <a:off x="704088" y="914400"/>
            <a:ext cx="3799763" cy="1473200"/>
          </a:xfrm>
        </p:spPr>
        <p:txBody>
          <a:bodyPr>
            <a:normAutofit/>
          </a:bodyPr>
          <a:lstStyle/>
          <a:p>
            <a:pPr>
              <a:lnSpc>
                <a:spcPct val="90000"/>
              </a:lnSpc>
            </a:pPr>
            <a:r>
              <a:rPr lang="en-US" sz="2500"/>
              <a:t>Findings: Single input model (radius 1)</a:t>
            </a:r>
            <a:br>
              <a:rPr lang="en-US" sz="2500"/>
            </a:br>
            <a:br>
              <a:rPr lang="en-US" sz="2500"/>
            </a:br>
            <a:r>
              <a:rPr lang="en-US" sz="2500"/>
              <a:t>confusion matrix</a:t>
            </a:r>
          </a:p>
        </p:txBody>
      </p:sp>
      <p:cxnSp>
        <p:nvCxnSpPr>
          <p:cNvPr id="32" name="Straight Connector 31">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1388BD7-01BC-947A-7EAF-ADD92DCDA382}"/>
              </a:ext>
            </a:extLst>
          </p:cNvPr>
          <p:cNvSpPr>
            <a:spLocks noGrp="1"/>
          </p:cNvSpPr>
          <p:nvPr>
            <p:ph idx="1"/>
          </p:nvPr>
        </p:nvSpPr>
        <p:spPr>
          <a:xfrm>
            <a:off x="704088" y="2387600"/>
            <a:ext cx="3799763" cy="3767328"/>
          </a:xfrm>
        </p:spPr>
        <p:txBody>
          <a:bodyPr vert="horz" lIns="91440" tIns="45720" rIns="91440" bIns="45720" rtlCol="0">
            <a:normAutofit/>
          </a:bodyPr>
          <a:lstStyle/>
          <a:p>
            <a:pPr marL="0" indent="0">
              <a:buNone/>
            </a:pPr>
            <a:endParaRPr lang="en-US" b="1"/>
          </a:p>
          <a:p>
            <a:pPr marL="457200" indent="-457200">
              <a:buFont typeface="Arial" panose="020B0604020202020204" pitchFamily="34" charset="0"/>
              <a:buAutoNum type="arabicPeriod"/>
            </a:pPr>
            <a:endParaRPr lang="en-US"/>
          </a:p>
          <a:p>
            <a:pPr marL="457200" indent="-457200">
              <a:buFont typeface="Arial" panose="020B0604020202020204" pitchFamily="34" charset="0"/>
              <a:buAutoNum type="arabicPeriod"/>
            </a:pPr>
            <a:endParaRPr lang="en-US"/>
          </a:p>
          <a:p>
            <a:pPr marL="914400" lvl="1" indent="-457200">
              <a:buFont typeface="Courier New" panose="020B0604020202020204" pitchFamily="34" charset="0"/>
              <a:buChar char="o"/>
            </a:pPr>
            <a:endParaRPr lang="en-US"/>
          </a:p>
          <a:p>
            <a:pPr marL="457200" lvl="1" indent="0">
              <a:buNone/>
            </a:pPr>
            <a:r>
              <a:rPr lang="en-US"/>
              <a:t> </a:t>
            </a:r>
          </a:p>
          <a:p>
            <a:pPr marL="0" indent="0">
              <a:buNone/>
            </a:pPr>
            <a:endParaRPr lang="en-US"/>
          </a:p>
        </p:txBody>
      </p:sp>
      <p:pic>
        <p:nvPicPr>
          <p:cNvPr id="5" name="Picture 4">
            <a:extLst>
              <a:ext uri="{FF2B5EF4-FFF2-40B4-BE49-F238E27FC236}">
                <a16:creationId xmlns:a16="http://schemas.microsoft.com/office/drawing/2014/main" id="{B794E162-BE23-041E-B0A3-090E4FB84989}"/>
              </a:ext>
            </a:extLst>
          </p:cNvPr>
          <p:cNvPicPr>
            <a:picLocks noChangeAspect="1"/>
          </p:cNvPicPr>
          <p:nvPr/>
        </p:nvPicPr>
        <p:blipFill>
          <a:blip r:embed="rId2"/>
          <a:stretch>
            <a:fillRect/>
          </a:stretch>
        </p:blipFill>
        <p:spPr>
          <a:xfrm>
            <a:off x="4508407" y="667310"/>
            <a:ext cx="6581775" cy="5657850"/>
          </a:xfrm>
          <a:prstGeom prst="rect">
            <a:avLst/>
          </a:prstGeom>
        </p:spPr>
      </p:pic>
    </p:spTree>
    <p:extLst>
      <p:ext uri="{BB962C8B-B14F-4D97-AF65-F5344CB8AC3E}">
        <p14:creationId xmlns:p14="http://schemas.microsoft.com/office/powerpoint/2010/main" val="2812525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4F43F-A155-F57D-B726-820FB737D8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71904D-2912-018C-4692-8394512AB59A}"/>
              </a:ext>
            </a:extLst>
          </p:cNvPr>
          <p:cNvSpPr>
            <a:spLocks noGrp="1"/>
          </p:cNvSpPr>
          <p:nvPr>
            <p:ph type="title"/>
          </p:nvPr>
        </p:nvSpPr>
        <p:spPr/>
        <p:txBody>
          <a:bodyPr>
            <a:normAutofit/>
          </a:bodyPr>
          <a:lstStyle/>
          <a:p>
            <a:r>
              <a:rPr lang="en-US"/>
              <a:t>Findings: Single input Model </a:t>
            </a:r>
            <a:br>
              <a:rPr lang="en-US"/>
            </a:br>
            <a:r>
              <a:rPr lang="en-US" sz="3600"/>
              <a:t>(concave points 1)</a:t>
            </a:r>
            <a:endParaRPr lang="en-US" err="1"/>
          </a:p>
        </p:txBody>
      </p:sp>
      <p:sp>
        <p:nvSpPr>
          <p:cNvPr id="3" name="Content Placeholder 2">
            <a:extLst>
              <a:ext uri="{FF2B5EF4-FFF2-40B4-BE49-F238E27FC236}">
                <a16:creationId xmlns:a16="http://schemas.microsoft.com/office/drawing/2014/main" id="{A5BDD166-6680-0AAC-A9C7-84E38AAA23B5}"/>
              </a:ext>
            </a:extLst>
          </p:cNvPr>
          <p:cNvSpPr>
            <a:spLocks noGrp="1"/>
          </p:cNvSpPr>
          <p:nvPr>
            <p:ph idx="1"/>
          </p:nvPr>
        </p:nvSpPr>
        <p:spPr/>
        <p:txBody>
          <a:bodyPr vert="horz" lIns="91440" tIns="45720" rIns="91440" bIns="45720" rtlCol="0" anchor="t">
            <a:noAutofit/>
          </a:bodyPr>
          <a:lstStyle/>
          <a:p>
            <a:pPr marL="457200" indent="-457200">
              <a:buAutoNum type="arabicPeriod"/>
            </a:pPr>
            <a:r>
              <a:rPr lang="en-US" sz="2800" b="1">
                <a:ea typeface="+mn-lt"/>
                <a:cs typeface="+mn-lt"/>
              </a:rPr>
              <a:t>Accuracy: 0.6579</a:t>
            </a:r>
          </a:p>
          <a:p>
            <a:pPr marL="914400" lvl="1" indent="-457200">
              <a:buFont typeface="Courier New" panose="020B0604020202020204" pitchFamily="34" charset="0"/>
              <a:buChar char="o"/>
            </a:pPr>
            <a:r>
              <a:rPr lang="en-US" sz="2800">
                <a:ea typeface="+mn-lt"/>
                <a:cs typeface="+mn-lt"/>
              </a:rPr>
              <a:t>66% of the model's predictions matched the actual diagnosis</a:t>
            </a:r>
            <a:endParaRPr lang="en-US" sz="2800"/>
          </a:p>
          <a:p>
            <a:pPr marL="457200" indent="-457200">
              <a:buAutoNum type="arabicPeriod"/>
            </a:pPr>
            <a:r>
              <a:rPr lang="en-US" sz="2800" b="1"/>
              <a:t>AUC: 0.9676</a:t>
            </a:r>
          </a:p>
          <a:p>
            <a:pPr marL="914400" lvl="1" indent="-457200">
              <a:buFont typeface="Courier New" panose="020B0604020202020204" pitchFamily="34" charset="0"/>
              <a:buChar char="o"/>
            </a:pPr>
            <a:r>
              <a:rPr lang="en-US" sz="2800"/>
              <a:t>97% of the time the model correctly ranks a randomly chosen patient with the disease as higher risk than a randomly chosen patient without the disease</a:t>
            </a:r>
          </a:p>
          <a:p>
            <a:pPr marL="457200" indent="-457200">
              <a:buAutoNum type="arabicPeriod"/>
            </a:pPr>
            <a:endParaRPr lang="en-US" b="1"/>
          </a:p>
          <a:p>
            <a:pPr marL="457200" indent="-457200">
              <a:buFont typeface="Arial" panose="020B0604020202020204" pitchFamily="34" charset="0"/>
              <a:buAutoNum type="arabicPeriod"/>
            </a:pPr>
            <a:endParaRPr lang="en-US"/>
          </a:p>
          <a:p>
            <a:pPr marL="457200" indent="-457200">
              <a:buFont typeface="Arial" panose="020B0604020202020204" pitchFamily="34" charset="0"/>
              <a:buAutoNum type="arabicPeriod"/>
            </a:pPr>
            <a:endParaRPr lang="en-US"/>
          </a:p>
          <a:p>
            <a:pPr marL="914400" lvl="1" indent="-457200">
              <a:buFont typeface="Courier New" panose="020B0604020202020204" pitchFamily="34" charset="0"/>
              <a:buChar char="o"/>
            </a:pPr>
            <a:endParaRPr lang="en-US"/>
          </a:p>
          <a:p>
            <a:pPr marL="457200" lvl="1" indent="0">
              <a:buNone/>
            </a:pPr>
            <a:r>
              <a:rPr lang="en-US"/>
              <a:t> </a:t>
            </a:r>
          </a:p>
          <a:p>
            <a:pPr marL="0" indent="0">
              <a:buNone/>
            </a:pPr>
            <a:endParaRPr lang="en-US"/>
          </a:p>
        </p:txBody>
      </p:sp>
    </p:spTree>
    <p:extLst>
      <p:ext uri="{BB962C8B-B14F-4D97-AF65-F5344CB8AC3E}">
        <p14:creationId xmlns:p14="http://schemas.microsoft.com/office/powerpoint/2010/main" val="2839303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3032FF-A37F-2676-5548-53551F1901B8}"/>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609C42-9031-CC1F-4BFA-AC3C266975F7}"/>
              </a:ext>
            </a:extLst>
          </p:cNvPr>
          <p:cNvSpPr>
            <a:spLocks noGrp="1"/>
          </p:cNvSpPr>
          <p:nvPr>
            <p:ph type="title"/>
          </p:nvPr>
        </p:nvSpPr>
        <p:spPr>
          <a:xfrm>
            <a:off x="704088" y="914400"/>
            <a:ext cx="3799763" cy="1473200"/>
          </a:xfrm>
        </p:spPr>
        <p:txBody>
          <a:bodyPr>
            <a:normAutofit fontScale="90000"/>
          </a:bodyPr>
          <a:lstStyle/>
          <a:p>
            <a:pPr>
              <a:lnSpc>
                <a:spcPct val="90000"/>
              </a:lnSpc>
            </a:pPr>
            <a:r>
              <a:rPr lang="en-US" sz="2500"/>
              <a:t>Findings: Single Model Input (concave points 1)</a:t>
            </a:r>
            <a:br>
              <a:rPr lang="en-US" sz="2500"/>
            </a:br>
            <a:br>
              <a:rPr lang="en-US" sz="2500"/>
            </a:br>
            <a:r>
              <a:rPr lang="en-US" sz="2500"/>
              <a:t>confusion matrix</a:t>
            </a:r>
          </a:p>
        </p:txBody>
      </p:sp>
      <p:cxnSp>
        <p:nvCxnSpPr>
          <p:cNvPr id="32" name="Straight Connector 31">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1A604E5-286E-0280-100D-1BEAD7AE7367}"/>
              </a:ext>
            </a:extLst>
          </p:cNvPr>
          <p:cNvSpPr>
            <a:spLocks noGrp="1"/>
          </p:cNvSpPr>
          <p:nvPr>
            <p:ph idx="1"/>
          </p:nvPr>
        </p:nvSpPr>
        <p:spPr>
          <a:xfrm>
            <a:off x="704088" y="2387600"/>
            <a:ext cx="3799763" cy="3767328"/>
          </a:xfrm>
        </p:spPr>
        <p:txBody>
          <a:bodyPr vert="horz" lIns="91440" tIns="45720" rIns="91440" bIns="45720" rtlCol="0">
            <a:normAutofit/>
          </a:bodyPr>
          <a:lstStyle/>
          <a:p>
            <a:pPr marL="0" indent="0">
              <a:buNone/>
            </a:pPr>
            <a:endParaRPr lang="en-US" b="1"/>
          </a:p>
          <a:p>
            <a:pPr marL="457200" indent="-457200">
              <a:buFont typeface="Arial" panose="020B0604020202020204" pitchFamily="34" charset="0"/>
              <a:buAutoNum type="arabicPeriod"/>
            </a:pPr>
            <a:endParaRPr lang="en-US"/>
          </a:p>
          <a:p>
            <a:pPr marL="457200" indent="-457200">
              <a:buFont typeface="Arial" panose="020B0604020202020204" pitchFamily="34" charset="0"/>
              <a:buAutoNum type="arabicPeriod"/>
            </a:pPr>
            <a:endParaRPr lang="en-US"/>
          </a:p>
          <a:p>
            <a:pPr marL="914400" lvl="1" indent="-457200">
              <a:buFont typeface="Courier New" panose="020B0604020202020204" pitchFamily="34" charset="0"/>
              <a:buChar char="o"/>
            </a:pPr>
            <a:endParaRPr lang="en-US"/>
          </a:p>
          <a:p>
            <a:pPr marL="457200" lvl="1" indent="0">
              <a:buNone/>
            </a:pPr>
            <a:r>
              <a:rPr lang="en-US"/>
              <a:t> </a:t>
            </a:r>
          </a:p>
          <a:p>
            <a:pPr marL="0" indent="0">
              <a:buNone/>
            </a:pPr>
            <a:endParaRPr lang="en-US"/>
          </a:p>
        </p:txBody>
      </p:sp>
      <p:pic>
        <p:nvPicPr>
          <p:cNvPr id="4" name="Picture 3" descr="A blue squares with white text&#10;&#10;AI-generated content may be incorrect.">
            <a:extLst>
              <a:ext uri="{FF2B5EF4-FFF2-40B4-BE49-F238E27FC236}">
                <a16:creationId xmlns:a16="http://schemas.microsoft.com/office/drawing/2014/main" id="{A0134371-3575-BFF7-EC9A-A70A22294F94}"/>
              </a:ext>
            </a:extLst>
          </p:cNvPr>
          <p:cNvPicPr>
            <a:picLocks noChangeAspect="1"/>
          </p:cNvPicPr>
          <p:nvPr/>
        </p:nvPicPr>
        <p:blipFill>
          <a:blip r:embed="rId3"/>
          <a:srcRect r="2" b="3815"/>
          <a:stretch>
            <a:fillRect/>
          </a:stretch>
        </p:blipFill>
        <p:spPr>
          <a:xfrm>
            <a:off x="4981575" y="735286"/>
            <a:ext cx="6495042" cy="5419642"/>
          </a:xfrm>
          <a:prstGeom prst="rect">
            <a:avLst/>
          </a:prstGeom>
        </p:spPr>
      </p:pic>
    </p:spTree>
    <p:extLst>
      <p:ext uri="{BB962C8B-B14F-4D97-AF65-F5344CB8AC3E}">
        <p14:creationId xmlns:p14="http://schemas.microsoft.com/office/powerpoint/2010/main" val="3443441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1D3D9-866A-B94C-1BE3-4CEACAC35E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E4DDD3-AAD8-F645-D8B7-159AB4D2BC57}"/>
              </a:ext>
            </a:extLst>
          </p:cNvPr>
          <p:cNvSpPr>
            <a:spLocks noGrp="1"/>
          </p:cNvSpPr>
          <p:nvPr>
            <p:ph type="title"/>
          </p:nvPr>
        </p:nvSpPr>
        <p:spPr>
          <a:xfrm>
            <a:off x="700635" y="914400"/>
            <a:ext cx="10691265" cy="971416"/>
          </a:xfrm>
        </p:spPr>
        <p:txBody>
          <a:bodyPr>
            <a:normAutofit/>
          </a:bodyPr>
          <a:lstStyle/>
          <a:p>
            <a:r>
              <a:rPr lang="en-US"/>
              <a:t>Multiple Input model: logistic regression</a:t>
            </a:r>
          </a:p>
        </p:txBody>
      </p:sp>
      <p:sp>
        <p:nvSpPr>
          <p:cNvPr id="3" name="Content Placeholder 2">
            <a:extLst>
              <a:ext uri="{FF2B5EF4-FFF2-40B4-BE49-F238E27FC236}">
                <a16:creationId xmlns:a16="http://schemas.microsoft.com/office/drawing/2014/main" id="{D16D34F4-6E1C-90C9-EABA-E864BAA65616}"/>
              </a:ext>
            </a:extLst>
          </p:cNvPr>
          <p:cNvSpPr>
            <a:spLocks noGrp="1"/>
          </p:cNvSpPr>
          <p:nvPr>
            <p:ph idx="1"/>
          </p:nvPr>
        </p:nvSpPr>
        <p:spPr>
          <a:xfrm>
            <a:off x="700635" y="2207881"/>
            <a:ext cx="10691265" cy="3745159"/>
          </a:xfrm>
        </p:spPr>
        <p:txBody>
          <a:bodyPr vert="horz" lIns="91440" tIns="45720" rIns="91440" bIns="45720" rtlCol="0" anchor="t">
            <a:noAutofit/>
          </a:bodyPr>
          <a:lstStyle/>
          <a:p>
            <a:pPr marL="0" indent="0">
              <a:buNone/>
            </a:pPr>
            <a:r>
              <a:rPr lang="en-US" sz="2800" b="1">
                <a:ea typeface="+mn-lt"/>
                <a:cs typeface="+mn-lt"/>
              </a:rPr>
              <a:t>Accuracy: </a:t>
            </a:r>
            <a:endParaRPr lang="en-US" sz="2800">
              <a:ea typeface="+mn-lt"/>
              <a:cs typeface="+mn-lt"/>
            </a:endParaRPr>
          </a:p>
          <a:p>
            <a:r>
              <a:rPr lang="en-US" sz="2800" b="1">
                <a:ea typeface="+mn-lt"/>
                <a:cs typeface="+mn-lt"/>
              </a:rPr>
              <a:t>95.61%</a:t>
            </a:r>
            <a:r>
              <a:rPr lang="en-US" sz="2800">
                <a:ea typeface="+mn-lt"/>
                <a:cs typeface="+mn-lt"/>
              </a:rPr>
              <a:t> of the model's predictions matched the actual diagnosis</a:t>
            </a:r>
            <a:endParaRPr lang="en-US" sz="2800"/>
          </a:p>
          <a:p>
            <a:pPr marL="0" indent="0">
              <a:buNone/>
            </a:pPr>
            <a:endParaRPr lang="en-US" sz="1600"/>
          </a:p>
          <a:p>
            <a:pPr marL="0" indent="0">
              <a:buNone/>
            </a:pPr>
            <a:r>
              <a:rPr lang="en-US" sz="2800" err="1"/>
              <a:t>statsmodels</a:t>
            </a:r>
            <a:r>
              <a:rPr lang="en-US" sz="2800"/>
              <a:t> p-values: radius, texture, smoothness</a:t>
            </a:r>
          </a:p>
          <a:p>
            <a:pPr marL="0" indent="0">
              <a:buNone/>
            </a:pPr>
            <a:endParaRPr lang="en-US" sz="2800"/>
          </a:p>
          <a:p>
            <a:pPr marL="0" indent="0">
              <a:buNone/>
            </a:pPr>
            <a:r>
              <a:rPr lang="en-US" sz="2800">
                <a:ea typeface="+mn-lt"/>
                <a:cs typeface="+mn-lt"/>
              </a:rPr>
              <a:t>multicollinearity: computed Variance Inflation Factors (VIFs)</a:t>
            </a:r>
            <a:endParaRPr lang="en-US" sz="2800"/>
          </a:p>
          <a:p>
            <a:pPr marL="457200" lvl="1" indent="0">
              <a:buNone/>
            </a:pPr>
            <a:endParaRPr lang="en-US"/>
          </a:p>
        </p:txBody>
      </p:sp>
    </p:spTree>
    <p:extLst>
      <p:ext uri="{BB962C8B-B14F-4D97-AF65-F5344CB8AC3E}">
        <p14:creationId xmlns:p14="http://schemas.microsoft.com/office/powerpoint/2010/main" val="4166903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A7A30-07C4-5E40-E5BD-5A9ED196E7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98220A-3AF3-F43D-9900-C64F68D14C44}"/>
              </a:ext>
            </a:extLst>
          </p:cNvPr>
          <p:cNvSpPr>
            <a:spLocks noGrp="1"/>
          </p:cNvSpPr>
          <p:nvPr>
            <p:ph type="title"/>
          </p:nvPr>
        </p:nvSpPr>
        <p:spPr/>
        <p:txBody>
          <a:bodyPr>
            <a:normAutofit fontScale="90000"/>
          </a:bodyPr>
          <a:lstStyle/>
          <a:p>
            <a:r>
              <a:rPr lang="en-US"/>
              <a:t>Findings: Multiple Input model</a:t>
            </a:r>
            <a:br>
              <a:rPr lang="en-US"/>
            </a:br>
            <a:r>
              <a:rPr lang="en-US"/>
              <a:t>logistic regression</a:t>
            </a:r>
          </a:p>
        </p:txBody>
      </p:sp>
      <p:sp>
        <p:nvSpPr>
          <p:cNvPr id="3" name="Content Placeholder 2">
            <a:extLst>
              <a:ext uri="{FF2B5EF4-FFF2-40B4-BE49-F238E27FC236}">
                <a16:creationId xmlns:a16="http://schemas.microsoft.com/office/drawing/2014/main" id="{BCF70409-17F5-969A-B977-9AAAC4140D8F}"/>
              </a:ext>
            </a:extLst>
          </p:cNvPr>
          <p:cNvSpPr>
            <a:spLocks noGrp="1"/>
          </p:cNvSpPr>
          <p:nvPr>
            <p:ph idx="1"/>
          </p:nvPr>
        </p:nvSpPr>
        <p:spPr>
          <a:xfrm>
            <a:off x="700635" y="2207881"/>
            <a:ext cx="10691265" cy="3745159"/>
          </a:xfrm>
        </p:spPr>
        <p:txBody>
          <a:bodyPr vert="horz" lIns="91440" tIns="45720" rIns="91440" bIns="45720" rtlCol="0" anchor="t">
            <a:noAutofit/>
          </a:bodyPr>
          <a:lstStyle/>
          <a:p>
            <a:pPr marL="0" indent="0">
              <a:buNone/>
            </a:pPr>
            <a:endParaRPr lang="en-US" sz="1600" b="1">
              <a:ea typeface="+mn-lt"/>
              <a:cs typeface="+mn-lt"/>
            </a:endParaRPr>
          </a:p>
          <a:p>
            <a:pPr marL="0" indent="0">
              <a:buNone/>
            </a:pPr>
            <a:r>
              <a:rPr lang="en-US" sz="2800" b="1">
                <a:ea typeface="+mn-lt"/>
                <a:cs typeface="+mn-lt"/>
              </a:rPr>
              <a:t>Accuracy: </a:t>
            </a:r>
            <a:endParaRPr lang="en-US" sz="2800">
              <a:ea typeface="+mn-lt"/>
              <a:cs typeface="+mn-lt"/>
            </a:endParaRPr>
          </a:p>
          <a:p>
            <a:r>
              <a:rPr lang="en-US" sz="2800" b="1">
                <a:ea typeface="+mn-lt"/>
                <a:cs typeface="+mn-lt"/>
              </a:rPr>
              <a:t>93.86%</a:t>
            </a:r>
            <a:r>
              <a:rPr lang="en-US" sz="2800">
                <a:ea typeface="+mn-lt"/>
                <a:cs typeface="+mn-lt"/>
              </a:rPr>
              <a:t> of the model's predictions matched the actual diagnosis</a:t>
            </a:r>
            <a:endParaRPr lang="en-US" sz="2800"/>
          </a:p>
          <a:p>
            <a:pPr marL="0" indent="0">
              <a:buNone/>
            </a:pPr>
            <a:endParaRPr lang="en-US" sz="1600"/>
          </a:p>
          <a:p>
            <a:pPr marL="0" indent="0">
              <a:buNone/>
            </a:pPr>
            <a:r>
              <a:rPr lang="en-US" sz="2800" b="1"/>
              <a:t>AUC </a:t>
            </a:r>
            <a:r>
              <a:rPr lang="en-US" sz="2800"/>
              <a:t> (Area Under the ROC Curve)</a:t>
            </a:r>
          </a:p>
          <a:p>
            <a:r>
              <a:rPr lang="en-US" sz="2800" b="1"/>
              <a:t>93.15%</a:t>
            </a:r>
            <a:r>
              <a:rPr lang="en-US" sz="2800"/>
              <a:t> of the time, the model gives a higher malignancy score to an actual malignant tumor than to a benign one.</a:t>
            </a:r>
            <a:endParaRPr lang="en-US"/>
          </a:p>
          <a:p>
            <a:pPr marL="0" indent="0">
              <a:buNone/>
            </a:pPr>
            <a:endParaRPr lang="en-US"/>
          </a:p>
          <a:p>
            <a:pPr marL="457200" lvl="1" indent="0">
              <a:buNone/>
            </a:pPr>
            <a:endParaRPr lang="en-US"/>
          </a:p>
        </p:txBody>
      </p:sp>
    </p:spTree>
    <p:extLst>
      <p:ext uri="{BB962C8B-B14F-4D97-AF65-F5344CB8AC3E}">
        <p14:creationId xmlns:p14="http://schemas.microsoft.com/office/powerpoint/2010/main" val="1071808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6EB127-BA63-A223-E0E2-1A811EA43C74}"/>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177658-AFAD-28F1-F3B8-0DB54B4E0B0E}"/>
              </a:ext>
            </a:extLst>
          </p:cNvPr>
          <p:cNvSpPr>
            <a:spLocks noGrp="1"/>
          </p:cNvSpPr>
          <p:nvPr>
            <p:ph type="title"/>
          </p:nvPr>
        </p:nvSpPr>
        <p:spPr>
          <a:xfrm>
            <a:off x="704088" y="914400"/>
            <a:ext cx="3799763" cy="1473200"/>
          </a:xfrm>
        </p:spPr>
        <p:txBody>
          <a:bodyPr>
            <a:normAutofit/>
          </a:bodyPr>
          <a:lstStyle/>
          <a:p>
            <a:pPr>
              <a:lnSpc>
                <a:spcPct val="90000"/>
              </a:lnSpc>
            </a:pPr>
            <a:r>
              <a:rPr lang="en-US" sz="2500"/>
              <a:t>Findings: multiple Input model</a:t>
            </a:r>
            <a:br>
              <a:rPr lang="en-US" sz="2500"/>
            </a:br>
            <a:br>
              <a:rPr lang="en-US" sz="2500"/>
            </a:br>
            <a:r>
              <a:rPr lang="en-US" sz="2500"/>
              <a:t>confusion matrix</a:t>
            </a:r>
          </a:p>
        </p:txBody>
      </p:sp>
      <p:cxnSp>
        <p:nvCxnSpPr>
          <p:cNvPr id="32" name="Straight Connector 31">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34B2EEB-7ADD-7D9B-2A44-ED3ECC06D90D}"/>
              </a:ext>
            </a:extLst>
          </p:cNvPr>
          <p:cNvSpPr>
            <a:spLocks noGrp="1"/>
          </p:cNvSpPr>
          <p:nvPr>
            <p:ph idx="1"/>
          </p:nvPr>
        </p:nvSpPr>
        <p:spPr>
          <a:xfrm>
            <a:off x="704088" y="2387600"/>
            <a:ext cx="3799763" cy="3767328"/>
          </a:xfrm>
        </p:spPr>
        <p:txBody>
          <a:bodyPr vert="horz" lIns="91440" tIns="45720" rIns="91440" bIns="45720" rtlCol="0">
            <a:normAutofit/>
          </a:bodyPr>
          <a:lstStyle/>
          <a:p>
            <a:pPr marL="0" indent="0">
              <a:buNone/>
            </a:pPr>
            <a:endParaRPr lang="en-US" b="1"/>
          </a:p>
          <a:p>
            <a:pPr marL="457200" indent="-457200">
              <a:buFont typeface="Arial" panose="020B0604020202020204" pitchFamily="34" charset="0"/>
              <a:buAutoNum type="arabicPeriod"/>
            </a:pPr>
            <a:endParaRPr lang="en-US"/>
          </a:p>
          <a:p>
            <a:pPr marL="457200" indent="-457200">
              <a:buFont typeface="Arial" panose="020B0604020202020204" pitchFamily="34" charset="0"/>
              <a:buAutoNum type="arabicPeriod"/>
            </a:pPr>
            <a:endParaRPr lang="en-US"/>
          </a:p>
          <a:p>
            <a:pPr marL="914400" lvl="1" indent="-457200">
              <a:buFont typeface="Courier New" panose="020B0604020202020204" pitchFamily="34" charset="0"/>
              <a:buChar char="o"/>
            </a:pPr>
            <a:endParaRPr lang="en-US"/>
          </a:p>
          <a:p>
            <a:pPr marL="457200" lvl="1" indent="0">
              <a:buNone/>
            </a:pPr>
            <a:r>
              <a:rPr lang="en-US"/>
              <a:t> </a:t>
            </a:r>
          </a:p>
          <a:p>
            <a:pPr marL="0" indent="0">
              <a:buNone/>
            </a:pPr>
            <a:endParaRPr lang="en-US"/>
          </a:p>
        </p:txBody>
      </p:sp>
      <p:pic>
        <p:nvPicPr>
          <p:cNvPr id="5" name="Picture 4" descr="A blue squares with white text&#10;&#10;AI-generated content may be incorrect.">
            <a:extLst>
              <a:ext uri="{FF2B5EF4-FFF2-40B4-BE49-F238E27FC236}">
                <a16:creationId xmlns:a16="http://schemas.microsoft.com/office/drawing/2014/main" id="{9EE5BF60-2926-1010-8E2A-1A2CF3C0E357}"/>
              </a:ext>
            </a:extLst>
          </p:cNvPr>
          <p:cNvPicPr>
            <a:picLocks noChangeAspect="1"/>
          </p:cNvPicPr>
          <p:nvPr/>
        </p:nvPicPr>
        <p:blipFill>
          <a:blip r:embed="rId2"/>
          <a:stretch>
            <a:fillRect/>
          </a:stretch>
        </p:blipFill>
        <p:spPr>
          <a:xfrm>
            <a:off x="4498322" y="675155"/>
            <a:ext cx="7307916" cy="5261161"/>
          </a:xfrm>
          <a:prstGeom prst="rect">
            <a:avLst/>
          </a:prstGeom>
        </p:spPr>
      </p:pic>
    </p:spTree>
    <p:extLst>
      <p:ext uri="{BB962C8B-B14F-4D97-AF65-F5344CB8AC3E}">
        <p14:creationId xmlns:p14="http://schemas.microsoft.com/office/powerpoint/2010/main" val="2685221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CDDBD-6FAF-1153-5DC2-95DC0D18B2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7AEEE-53EF-4CCC-81FA-9328482E93E2}"/>
              </a:ext>
            </a:extLst>
          </p:cNvPr>
          <p:cNvSpPr>
            <a:spLocks noGrp="1"/>
          </p:cNvSpPr>
          <p:nvPr>
            <p:ph type="title"/>
          </p:nvPr>
        </p:nvSpPr>
        <p:spPr/>
        <p:txBody>
          <a:bodyPr/>
          <a:lstStyle/>
          <a:p>
            <a:r>
              <a:rPr lang="en-US"/>
              <a:t>Findings: random forest model</a:t>
            </a:r>
          </a:p>
        </p:txBody>
      </p:sp>
      <p:sp>
        <p:nvSpPr>
          <p:cNvPr id="3" name="Content Placeholder 2">
            <a:extLst>
              <a:ext uri="{FF2B5EF4-FFF2-40B4-BE49-F238E27FC236}">
                <a16:creationId xmlns:a16="http://schemas.microsoft.com/office/drawing/2014/main" id="{3E99489F-AB38-BE6A-3D87-8FC377FECFEC}"/>
              </a:ext>
            </a:extLst>
          </p:cNvPr>
          <p:cNvSpPr>
            <a:spLocks noGrp="1"/>
          </p:cNvSpPr>
          <p:nvPr>
            <p:ph idx="1"/>
          </p:nvPr>
        </p:nvSpPr>
        <p:spPr/>
        <p:txBody>
          <a:bodyPr vert="horz" lIns="91440" tIns="45720" rIns="91440" bIns="45720" rtlCol="0" anchor="t">
            <a:noAutofit/>
          </a:bodyPr>
          <a:lstStyle/>
          <a:p>
            <a:pPr marL="457200" indent="-457200">
              <a:buAutoNum type="arabicPeriod"/>
            </a:pPr>
            <a:r>
              <a:rPr lang="en-US" sz="2800" b="1">
                <a:ea typeface="+mn-lt"/>
                <a:cs typeface="+mn-lt"/>
              </a:rPr>
              <a:t>Accuracy: 0.9123</a:t>
            </a:r>
          </a:p>
          <a:p>
            <a:pPr marL="914400" lvl="1" indent="-457200">
              <a:buFont typeface="Courier New" panose="020B0604020202020204" pitchFamily="34" charset="0"/>
              <a:buChar char="o"/>
            </a:pPr>
            <a:r>
              <a:rPr lang="en-US" sz="2800">
                <a:ea typeface="+mn-lt"/>
                <a:cs typeface="+mn-lt"/>
              </a:rPr>
              <a:t>91% of the model's predictions matched the actual diagnosis</a:t>
            </a:r>
            <a:endParaRPr lang="en-US" sz="2800"/>
          </a:p>
          <a:p>
            <a:pPr marL="457200" indent="-457200">
              <a:buAutoNum type="arabicPeriod"/>
            </a:pPr>
            <a:r>
              <a:rPr lang="en-US" sz="2800" b="1"/>
              <a:t>AUC: 0.9866</a:t>
            </a:r>
          </a:p>
          <a:p>
            <a:pPr marL="914400" lvl="1" indent="-457200">
              <a:buFont typeface="Courier New" panose="020B0604020202020204" pitchFamily="34" charset="0"/>
              <a:buChar char="o"/>
            </a:pPr>
            <a:r>
              <a:rPr lang="en-US" sz="2800"/>
              <a:t>99% of the time the model correctly ranks a randomly chosen patient with the disease as higher risk than a randomly chosen patient without the disease</a:t>
            </a:r>
          </a:p>
          <a:p>
            <a:pPr marL="457200" indent="-457200">
              <a:buAutoNum type="arabicPeriod"/>
            </a:pPr>
            <a:endParaRPr lang="en-US"/>
          </a:p>
          <a:p>
            <a:pPr marL="457200" indent="-457200">
              <a:buFont typeface="Arial" panose="020B0604020202020204" pitchFamily="34" charset="0"/>
              <a:buAutoNum type="arabicPeriod"/>
            </a:pPr>
            <a:endParaRPr lang="en-US"/>
          </a:p>
          <a:p>
            <a:pPr marL="914400" lvl="1" indent="-457200">
              <a:buFont typeface="Courier New" panose="020B0604020202020204" pitchFamily="34" charset="0"/>
              <a:buChar char="o"/>
            </a:pPr>
            <a:endParaRPr lang="en-US"/>
          </a:p>
          <a:p>
            <a:pPr marL="457200" lvl="1" indent="0">
              <a:buNone/>
            </a:pPr>
            <a:r>
              <a:rPr lang="en-US"/>
              <a:t> </a:t>
            </a:r>
          </a:p>
          <a:p>
            <a:pPr marL="0" indent="0">
              <a:buNone/>
            </a:pPr>
            <a:endParaRPr lang="en-US"/>
          </a:p>
        </p:txBody>
      </p:sp>
    </p:spTree>
    <p:extLst>
      <p:ext uri="{BB962C8B-B14F-4D97-AF65-F5344CB8AC3E}">
        <p14:creationId xmlns:p14="http://schemas.microsoft.com/office/powerpoint/2010/main" val="2042746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with blue bars&#10;&#10;AI-generated content may be incorrect.">
            <a:extLst>
              <a:ext uri="{FF2B5EF4-FFF2-40B4-BE49-F238E27FC236}">
                <a16:creationId xmlns:a16="http://schemas.microsoft.com/office/drawing/2014/main" id="{73B8DCD7-AA1D-A5F3-F10E-1C45F3E3EA72}"/>
              </a:ext>
            </a:extLst>
          </p:cNvPr>
          <p:cNvPicPr>
            <a:picLocks noChangeAspect="1"/>
          </p:cNvPicPr>
          <p:nvPr/>
        </p:nvPicPr>
        <p:blipFill>
          <a:blip r:embed="rId3"/>
          <a:stretch>
            <a:fillRect/>
          </a:stretch>
        </p:blipFill>
        <p:spPr>
          <a:xfrm>
            <a:off x="772646" y="177614"/>
            <a:ext cx="10624295" cy="6480361"/>
          </a:xfrm>
          <a:prstGeom prst="rect">
            <a:avLst/>
          </a:prstGeom>
        </p:spPr>
      </p:pic>
    </p:spTree>
    <p:extLst>
      <p:ext uri="{BB962C8B-B14F-4D97-AF65-F5344CB8AC3E}">
        <p14:creationId xmlns:p14="http://schemas.microsoft.com/office/powerpoint/2010/main" val="41102617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A773B4-5ECB-36AD-7411-3B6FB13D9A79}"/>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A39095DD-5BB4-87D3-C5A3-A1CF4A57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C942CB-15E3-6507-7E44-6585CC6400CC}"/>
              </a:ext>
            </a:extLst>
          </p:cNvPr>
          <p:cNvSpPr>
            <a:spLocks noGrp="1"/>
          </p:cNvSpPr>
          <p:nvPr>
            <p:ph type="title"/>
          </p:nvPr>
        </p:nvSpPr>
        <p:spPr>
          <a:xfrm>
            <a:off x="704088" y="914400"/>
            <a:ext cx="3799763" cy="1473200"/>
          </a:xfrm>
        </p:spPr>
        <p:txBody>
          <a:bodyPr>
            <a:normAutofit/>
          </a:bodyPr>
          <a:lstStyle/>
          <a:p>
            <a:pPr>
              <a:lnSpc>
                <a:spcPct val="90000"/>
              </a:lnSpc>
            </a:pPr>
            <a:r>
              <a:rPr lang="en-US" sz="2500"/>
              <a:t>Findings: random forest model</a:t>
            </a:r>
            <a:br>
              <a:rPr lang="en-US" sz="2500"/>
            </a:br>
            <a:br>
              <a:rPr lang="en-US" sz="2500"/>
            </a:br>
            <a:r>
              <a:rPr lang="en-US" sz="2500"/>
              <a:t>confusion matrix</a:t>
            </a:r>
          </a:p>
        </p:txBody>
      </p:sp>
      <p:cxnSp>
        <p:nvCxnSpPr>
          <p:cNvPr id="32" name="Straight Connector 31">
            <a:extLst>
              <a:ext uri="{FF2B5EF4-FFF2-40B4-BE49-F238E27FC236}">
                <a16:creationId xmlns:a16="http://schemas.microsoft.com/office/drawing/2014/main" id="{3E4AE79B-162A-5964-26FC-AAE091E4EF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1E9032B-770C-4401-B61C-F4BB62734F14}"/>
              </a:ext>
            </a:extLst>
          </p:cNvPr>
          <p:cNvSpPr>
            <a:spLocks noGrp="1"/>
          </p:cNvSpPr>
          <p:nvPr>
            <p:ph idx="1"/>
          </p:nvPr>
        </p:nvSpPr>
        <p:spPr>
          <a:xfrm>
            <a:off x="704088" y="2387600"/>
            <a:ext cx="3799763" cy="3767328"/>
          </a:xfrm>
        </p:spPr>
        <p:txBody>
          <a:bodyPr vert="horz" lIns="91440" tIns="45720" rIns="91440" bIns="45720" rtlCol="0">
            <a:normAutofit/>
          </a:bodyPr>
          <a:lstStyle/>
          <a:p>
            <a:pPr marL="0" indent="0">
              <a:buNone/>
            </a:pPr>
            <a:endParaRPr lang="en-US" b="1"/>
          </a:p>
          <a:p>
            <a:pPr marL="457200" indent="-457200">
              <a:buFont typeface="Arial" panose="020B0604020202020204" pitchFamily="34" charset="0"/>
              <a:buAutoNum type="arabicPeriod"/>
            </a:pPr>
            <a:endParaRPr lang="en-US"/>
          </a:p>
          <a:p>
            <a:pPr marL="457200" indent="-457200">
              <a:buFont typeface="Arial" panose="020B0604020202020204" pitchFamily="34" charset="0"/>
              <a:buAutoNum type="arabicPeriod"/>
            </a:pPr>
            <a:endParaRPr lang="en-US"/>
          </a:p>
          <a:p>
            <a:pPr marL="914400" lvl="1" indent="-457200">
              <a:buFont typeface="Courier New" panose="020B0604020202020204" pitchFamily="34" charset="0"/>
              <a:buChar char="o"/>
            </a:pPr>
            <a:endParaRPr lang="en-US"/>
          </a:p>
          <a:p>
            <a:pPr marL="457200" lvl="1" indent="0">
              <a:buNone/>
            </a:pPr>
            <a:r>
              <a:rPr lang="en-US"/>
              <a:t> </a:t>
            </a:r>
          </a:p>
          <a:p>
            <a:pPr marL="0" indent="0">
              <a:buNone/>
            </a:pPr>
            <a:endParaRPr lang="en-US"/>
          </a:p>
        </p:txBody>
      </p:sp>
      <p:pic>
        <p:nvPicPr>
          <p:cNvPr id="4" name="Picture 3" descr="A blue squares with white text&#10;&#10;AI-generated content may be incorrect.">
            <a:extLst>
              <a:ext uri="{FF2B5EF4-FFF2-40B4-BE49-F238E27FC236}">
                <a16:creationId xmlns:a16="http://schemas.microsoft.com/office/drawing/2014/main" id="{9DFDB687-54D2-F136-0EE5-F90C3B68E535}"/>
              </a:ext>
            </a:extLst>
          </p:cNvPr>
          <p:cNvPicPr>
            <a:picLocks noChangeAspect="1"/>
          </p:cNvPicPr>
          <p:nvPr/>
        </p:nvPicPr>
        <p:blipFill>
          <a:blip r:embed="rId3"/>
          <a:stretch>
            <a:fillRect/>
          </a:stretch>
        </p:blipFill>
        <p:spPr>
          <a:xfrm>
            <a:off x="4717676" y="571500"/>
            <a:ext cx="6667500" cy="5849470"/>
          </a:xfrm>
          <a:prstGeom prst="rect">
            <a:avLst/>
          </a:prstGeom>
        </p:spPr>
      </p:pic>
    </p:spTree>
    <p:extLst>
      <p:ext uri="{BB962C8B-B14F-4D97-AF65-F5344CB8AC3E}">
        <p14:creationId xmlns:p14="http://schemas.microsoft.com/office/powerpoint/2010/main" val="566714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1E243-76D9-3B3B-8834-EDBB58E961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617FBC-6DE6-7173-7B65-BF4BB7B2BC99}"/>
              </a:ext>
            </a:extLst>
          </p:cNvPr>
          <p:cNvSpPr>
            <a:spLocks noGrp="1"/>
          </p:cNvSpPr>
          <p:nvPr>
            <p:ph type="title"/>
          </p:nvPr>
        </p:nvSpPr>
        <p:spPr/>
        <p:txBody>
          <a:bodyPr/>
          <a:lstStyle/>
          <a:p>
            <a:r>
              <a:rPr lang="en-US" err="1"/>
              <a:t>xgboost</a:t>
            </a:r>
            <a:r>
              <a:rPr lang="en-US"/>
              <a:t> model 1: all features</a:t>
            </a:r>
          </a:p>
        </p:txBody>
      </p:sp>
      <p:sp>
        <p:nvSpPr>
          <p:cNvPr id="3" name="Content Placeholder 2">
            <a:extLst>
              <a:ext uri="{FF2B5EF4-FFF2-40B4-BE49-F238E27FC236}">
                <a16:creationId xmlns:a16="http://schemas.microsoft.com/office/drawing/2014/main" id="{C793B14D-5D3A-2422-C2B6-98F51AB5D241}"/>
              </a:ext>
            </a:extLst>
          </p:cNvPr>
          <p:cNvSpPr>
            <a:spLocks noGrp="1"/>
          </p:cNvSpPr>
          <p:nvPr>
            <p:ph idx="1"/>
          </p:nvPr>
        </p:nvSpPr>
        <p:spPr/>
        <p:txBody>
          <a:bodyPr vert="horz" lIns="91440" tIns="45720" rIns="91440" bIns="45720" rtlCol="0" anchor="t">
            <a:noAutofit/>
          </a:bodyPr>
          <a:lstStyle/>
          <a:p>
            <a:pPr marL="0" indent="0">
              <a:buNone/>
            </a:pPr>
            <a:r>
              <a:rPr lang="en-US" sz="2800" b="1" err="1"/>
              <a:t>GridSearchCV</a:t>
            </a:r>
            <a:r>
              <a:rPr lang="en-US" sz="2800"/>
              <a:t> to find best parameters</a:t>
            </a:r>
          </a:p>
          <a:p>
            <a:pPr marL="0" indent="0">
              <a:buNone/>
            </a:pPr>
            <a:endParaRPr lang="en-US" sz="2800"/>
          </a:p>
          <a:p>
            <a:pPr marL="0" indent="0">
              <a:buNone/>
            </a:pPr>
            <a:r>
              <a:rPr lang="en-US" sz="2800"/>
              <a:t>Accuracy:</a:t>
            </a:r>
          </a:p>
          <a:p>
            <a:pPr>
              <a:buFont typeface="Arial"/>
              <a:buChar char="•"/>
            </a:pPr>
            <a:r>
              <a:rPr lang="en-US" sz="2800" b="1"/>
              <a:t>98.25%</a:t>
            </a:r>
            <a:r>
              <a:rPr lang="en-US" sz="2800"/>
              <a:t> of the model's predictions matched the actual diagnosis</a:t>
            </a:r>
          </a:p>
          <a:p>
            <a:pPr marL="0" indent="0">
              <a:buNone/>
            </a:pPr>
            <a:endParaRPr lang="en-US" sz="2800"/>
          </a:p>
          <a:p>
            <a:pPr marL="0" indent="0">
              <a:buNone/>
            </a:pPr>
            <a:r>
              <a:rPr lang="en-US" sz="2800"/>
              <a:t>Same or better accuracy with fewer features?</a:t>
            </a:r>
          </a:p>
          <a:p>
            <a:pPr marL="457200" indent="-457200">
              <a:buAutoNum type="arabicPeriod"/>
            </a:pPr>
            <a:endParaRPr lang="en-US"/>
          </a:p>
          <a:p>
            <a:pPr marL="457200" indent="-457200">
              <a:buFont typeface="Arial" panose="020B0604020202020204" pitchFamily="34" charset="0"/>
              <a:buAutoNum type="arabicPeriod"/>
            </a:pPr>
            <a:endParaRPr lang="en-US"/>
          </a:p>
          <a:p>
            <a:pPr marL="914400" lvl="1" indent="-457200">
              <a:buFont typeface="Courier New" panose="020B0604020202020204" pitchFamily="34" charset="0"/>
              <a:buChar char="o"/>
            </a:pPr>
            <a:endParaRPr lang="en-US"/>
          </a:p>
          <a:p>
            <a:pPr marL="457200" lvl="1" indent="0">
              <a:buNone/>
            </a:pPr>
            <a:r>
              <a:rPr lang="en-US"/>
              <a:t> </a:t>
            </a:r>
          </a:p>
          <a:p>
            <a:pPr marL="0" indent="0">
              <a:buNone/>
            </a:pPr>
            <a:endParaRPr lang="en-US"/>
          </a:p>
        </p:txBody>
      </p:sp>
    </p:spTree>
    <p:extLst>
      <p:ext uri="{BB962C8B-B14F-4D97-AF65-F5344CB8AC3E}">
        <p14:creationId xmlns:p14="http://schemas.microsoft.com/office/powerpoint/2010/main" val="522762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with numbers and a number on it&#10;&#10;AI-generated content may be incorrect.">
            <a:extLst>
              <a:ext uri="{FF2B5EF4-FFF2-40B4-BE49-F238E27FC236}">
                <a16:creationId xmlns:a16="http://schemas.microsoft.com/office/drawing/2014/main" id="{CB90B7A6-C149-54EA-6E17-1B042380B325}"/>
              </a:ext>
            </a:extLst>
          </p:cNvPr>
          <p:cNvPicPr>
            <a:picLocks noChangeAspect="1"/>
          </p:cNvPicPr>
          <p:nvPr/>
        </p:nvPicPr>
        <p:blipFill>
          <a:blip r:embed="rId2"/>
          <a:stretch>
            <a:fillRect/>
          </a:stretch>
        </p:blipFill>
        <p:spPr>
          <a:xfrm>
            <a:off x="711426" y="422100"/>
            <a:ext cx="10710139" cy="5985579"/>
          </a:xfrm>
          <a:prstGeom prst="rect">
            <a:avLst/>
          </a:prstGeom>
        </p:spPr>
      </p:pic>
    </p:spTree>
    <p:extLst>
      <p:ext uri="{BB962C8B-B14F-4D97-AF65-F5344CB8AC3E}">
        <p14:creationId xmlns:p14="http://schemas.microsoft.com/office/powerpoint/2010/main" val="6729771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7FE7A-1054-C4C1-8754-05C166633B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B79826-F6A3-6C6E-BECF-BE0B1BA7D707}"/>
              </a:ext>
            </a:extLst>
          </p:cNvPr>
          <p:cNvSpPr>
            <a:spLocks noGrp="1"/>
          </p:cNvSpPr>
          <p:nvPr>
            <p:ph type="title"/>
          </p:nvPr>
        </p:nvSpPr>
        <p:spPr/>
        <p:txBody>
          <a:bodyPr/>
          <a:lstStyle/>
          <a:p>
            <a:r>
              <a:rPr lang="en-US" err="1"/>
              <a:t>xgboost</a:t>
            </a:r>
            <a:r>
              <a:rPr lang="en-US"/>
              <a:t> model 1: 10 features</a:t>
            </a:r>
          </a:p>
        </p:txBody>
      </p:sp>
      <p:sp>
        <p:nvSpPr>
          <p:cNvPr id="3" name="Content Placeholder 2">
            <a:extLst>
              <a:ext uri="{FF2B5EF4-FFF2-40B4-BE49-F238E27FC236}">
                <a16:creationId xmlns:a16="http://schemas.microsoft.com/office/drawing/2014/main" id="{3EE8BFA5-CD0C-FA38-FD02-766D0AC563D5}"/>
              </a:ext>
            </a:extLst>
          </p:cNvPr>
          <p:cNvSpPr>
            <a:spLocks noGrp="1"/>
          </p:cNvSpPr>
          <p:nvPr>
            <p:ph idx="1"/>
          </p:nvPr>
        </p:nvSpPr>
        <p:spPr>
          <a:xfrm>
            <a:off x="700635" y="1975463"/>
            <a:ext cx="10691265" cy="3986425"/>
          </a:xfrm>
        </p:spPr>
        <p:txBody>
          <a:bodyPr vert="horz" lIns="91440" tIns="45720" rIns="91440" bIns="45720" rtlCol="0" anchor="t">
            <a:noAutofit/>
          </a:bodyPr>
          <a:lstStyle/>
          <a:p>
            <a:pPr marL="0" indent="0">
              <a:buNone/>
            </a:pPr>
            <a:r>
              <a:rPr lang="en-US" sz="2800">
                <a:ea typeface="+mn-lt"/>
                <a:cs typeface="+mn-lt"/>
              </a:rPr>
              <a:t>Recursive Feature Elimination (RFE) </a:t>
            </a:r>
          </a:p>
          <a:p>
            <a:pPr marL="457200" indent="-457200"/>
            <a:r>
              <a:rPr lang="en-US" sz="2800">
                <a:ea typeface="+mn-lt"/>
                <a:cs typeface="+mn-lt"/>
              </a:rPr>
              <a:t>automatically test which subset of features gives the best accuracy</a:t>
            </a:r>
            <a:endParaRPr lang="en-US" sz="2800"/>
          </a:p>
          <a:p>
            <a:pPr marL="0" indent="0">
              <a:buNone/>
            </a:pPr>
            <a:endParaRPr lang="en-US" sz="1600"/>
          </a:p>
          <a:p>
            <a:pPr marL="0" indent="0">
              <a:buNone/>
            </a:pPr>
            <a:r>
              <a:rPr lang="en-US" sz="2800"/>
              <a:t>Accuracy:</a:t>
            </a:r>
          </a:p>
          <a:p>
            <a:pPr>
              <a:buFont typeface="Arial"/>
              <a:buChar char="•"/>
            </a:pPr>
            <a:r>
              <a:rPr lang="en-US" sz="2800" b="1"/>
              <a:t>94.74%</a:t>
            </a:r>
            <a:r>
              <a:rPr lang="en-US" sz="2800"/>
              <a:t> of the model's predictions matched the actual diagnosis</a:t>
            </a:r>
          </a:p>
          <a:p>
            <a:pPr marL="0" indent="0">
              <a:buNone/>
            </a:pPr>
            <a:endParaRPr lang="en-US" sz="1600"/>
          </a:p>
          <a:p>
            <a:pPr marL="0" indent="0">
              <a:buNone/>
            </a:pPr>
            <a:r>
              <a:rPr lang="en-US" sz="2800"/>
              <a:t>Find optimal number of features</a:t>
            </a:r>
          </a:p>
          <a:p>
            <a:pPr marL="457200" indent="-457200"/>
            <a:endParaRPr lang="en-US"/>
          </a:p>
          <a:p>
            <a:pPr marL="457200" indent="-457200"/>
            <a:endParaRPr lang="en-US"/>
          </a:p>
          <a:p>
            <a:pPr marL="914400" lvl="1" indent="-457200">
              <a:buFont typeface="Courier New" panose="020B0604020202020204" pitchFamily="34" charset="0"/>
              <a:buChar char="o"/>
            </a:pPr>
            <a:endParaRPr lang="en-US"/>
          </a:p>
          <a:p>
            <a:pPr marL="457200" lvl="1" indent="0">
              <a:buNone/>
            </a:pPr>
            <a:r>
              <a:rPr lang="en-US"/>
              <a:t> </a:t>
            </a:r>
          </a:p>
          <a:p>
            <a:pPr marL="0" indent="0">
              <a:buNone/>
            </a:pPr>
            <a:endParaRPr lang="en-US"/>
          </a:p>
        </p:txBody>
      </p:sp>
    </p:spTree>
    <p:extLst>
      <p:ext uri="{BB962C8B-B14F-4D97-AF65-F5344CB8AC3E}">
        <p14:creationId xmlns:p14="http://schemas.microsoft.com/office/powerpoint/2010/main" val="2173811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with blue bars&#10;&#10;AI-generated content may be incorrect.">
            <a:extLst>
              <a:ext uri="{FF2B5EF4-FFF2-40B4-BE49-F238E27FC236}">
                <a16:creationId xmlns:a16="http://schemas.microsoft.com/office/drawing/2014/main" id="{65B435EC-C484-B5AB-057F-14067489FB45}"/>
              </a:ext>
            </a:extLst>
          </p:cNvPr>
          <p:cNvPicPr>
            <a:picLocks noChangeAspect="1"/>
          </p:cNvPicPr>
          <p:nvPr/>
        </p:nvPicPr>
        <p:blipFill>
          <a:blip r:embed="rId2"/>
          <a:stretch>
            <a:fillRect/>
          </a:stretch>
        </p:blipFill>
        <p:spPr>
          <a:xfrm>
            <a:off x="252413" y="66675"/>
            <a:ext cx="11687175" cy="6724650"/>
          </a:xfrm>
          <a:prstGeom prst="rect">
            <a:avLst/>
          </a:prstGeom>
        </p:spPr>
      </p:pic>
    </p:spTree>
    <p:extLst>
      <p:ext uri="{BB962C8B-B14F-4D97-AF65-F5344CB8AC3E}">
        <p14:creationId xmlns:p14="http://schemas.microsoft.com/office/powerpoint/2010/main" val="34306568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17029-4EEA-2E20-A162-4BBC92C493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249DE9-8C39-2807-0262-D9EF1B84A035}"/>
              </a:ext>
            </a:extLst>
          </p:cNvPr>
          <p:cNvSpPr>
            <a:spLocks noGrp="1"/>
          </p:cNvSpPr>
          <p:nvPr>
            <p:ph type="title"/>
          </p:nvPr>
        </p:nvSpPr>
        <p:spPr/>
        <p:txBody>
          <a:bodyPr/>
          <a:lstStyle/>
          <a:p>
            <a:r>
              <a:rPr lang="en-US"/>
              <a:t>Findings: </a:t>
            </a:r>
            <a:r>
              <a:rPr lang="en-US" err="1"/>
              <a:t>xgboost</a:t>
            </a:r>
            <a:r>
              <a:rPr lang="en-US"/>
              <a:t> model</a:t>
            </a:r>
          </a:p>
        </p:txBody>
      </p:sp>
      <p:sp>
        <p:nvSpPr>
          <p:cNvPr id="3" name="Content Placeholder 2">
            <a:extLst>
              <a:ext uri="{FF2B5EF4-FFF2-40B4-BE49-F238E27FC236}">
                <a16:creationId xmlns:a16="http://schemas.microsoft.com/office/drawing/2014/main" id="{33685786-BF2A-9B29-622A-6AA5170CC314}"/>
              </a:ext>
            </a:extLst>
          </p:cNvPr>
          <p:cNvSpPr>
            <a:spLocks noGrp="1"/>
          </p:cNvSpPr>
          <p:nvPr>
            <p:ph idx="1"/>
          </p:nvPr>
        </p:nvSpPr>
        <p:spPr/>
        <p:txBody>
          <a:bodyPr vert="horz" lIns="91440" tIns="45720" rIns="91440" bIns="45720" rtlCol="0" anchor="t">
            <a:noAutofit/>
          </a:bodyPr>
          <a:lstStyle/>
          <a:p>
            <a:pPr marL="0" indent="0">
              <a:buNone/>
            </a:pPr>
            <a:r>
              <a:rPr lang="en-US" sz="2800" b="1"/>
              <a:t>Accuracy: </a:t>
            </a:r>
            <a:endParaRPr lang="en-US" sz="2800"/>
          </a:p>
          <a:p>
            <a:pPr>
              <a:buFont typeface="Arial"/>
              <a:buChar char="•"/>
            </a:pPr>
            <a:r>
              <a:rPr lang="en-US" sz="2800" b="1"/>
              <a:t>99.12%</a:t>
            </a:r>
            <a:r>
              <a:rPr lang="en-US" sz="2800"/>
              <a:t> of the model's predictions matched the actual diagnosis</a:t>
            </a:r>
          </a:p>
          <a:p>
            <a:pPr marL="0" indent="0">
              <a:buNone/>
            </a:pPr>
            <a:endParaRPr lang="en-US" sz="2800"/>
          </a:p>
          <a:p>
            <a:pPr marL="0" indent="0">
              <a:buNone/>
            </a:pPr>
            <a:r>
              <a:rPr lang="en-US" sz="2800" b="1"/>
              <a:t>AUC </a:t>
            </a:r>
            <a:r>
              <a:rPr lang="en-US" sz="2800"/>
              <a:t> (Area Under the ROC Curve)</a:t>
            </a:r>
          </a:p>
          <a:p>
            <a:pPr>
              <a:buFont typeface="Arial"/>
              <a:buChar char="•"/>
            </a:pPr>
            <a:r>
              <a:rPr lang="en-US" sz="2800" b="1"/>
              <a:t>99.31%</a:t>
            </a:r>
            <a:r>
              <a:rPr lang="en-US" sz="2800"/>
              <a:t> of the time, the model gives a higher malignancy score to an actual malignant tumor than to a benign one.</a:t>
            </a:r>
            <a:endParaRPr lang="en-US"/>
          </a:p>
          <a:p>
            <a:pPr marL="0" indent="0">
              <a:buNone/>
            </a:pPr>
            <a:endParaRPr lang="en-US" b="1"/>
          </a:p>
          <a:p>
            <a:pPr marL="457200" indent="-457200">
              <a:buAutoNum type="arabicPeriod"/>
            </a:pPr>
            <a:endParaRPr lang="en-US"/>
          </a:p>
          <a:p>
            <a:pPr marL="457200" indent="-457200">
              <a:buFont typeface="Arial" panose="020B0604020202020204" pitchFamily="34" charset="0"/>
              <a:buAutoNum type="arabicPeriod"/>
            </a:pPr>
            <a:endParaRPr lang="en-US"/>
          </a:p>
          <a:p>
            <a:pPr marL="914400" lvl="1" indent="-457200">
              <a:buFont typeface="Courier New" panose="020B0604020202020204" pitchFamily="34" charset="0"/>
              <a:buChar char="o"/>
            </a:pPr>
            <a:endParaRPr lang="en-US"/>
          </a:p>
          <a:p>
            <a:pPr marL="457200" lvl="1" indent="0">
              <a:buNone/>
            </a:pPr>
            <a:r>
              <a:rPr lang="en-US"/>
              <a:t> </a:t>
            </a:r>
          </a:p>
          <a:p>
            <a:pPr marL="0" indent="0">
              <a:buNone/>
            </a:pPr>
            <a:endParaRPr lang="en-US"/>
          </a:p>
        </p:txBody>
      </p:sp>
    </p:spTree>
    <p:extLst>
      <p:ext uri="{BB962C8B-B14F-4D97-AF65-F5344CB8AC3E}">
        <p14:creationId xmlns:p14="http://schemas.microsoft.com/office/powerpoint/2010/main" val="15796931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55B049-1005-50D9-8778-7C364BDE5E6A}"/>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35AD5E-EF0F-F447-2FB3-35DE25ABB5D0}"/>
              </a:ext>
            </a:extLst>
          </p:cNvPr>
          <p:cNvSpPr>
            <a:spLocks noGrp="1"/>
          </p:cNvSpPr>
          <p:nvPr>
            <p:ph type="title"/>
          </p:nvPr>
        </p:nvSpPr>
        <p:spPr>
          <a:xfrm>
            <a:off x="704088" y="914400"/>
            <a:ext cx="3799763" cy="1473200"/>
          </a:xfrm>
        </p:spPr>
        <p:txBody>
          <a:bodyPr>
            <a:normAutofit/>
          </a:bodyPr>
          <a:lstStyle/>
          <a:p>
            <a:pPr>
              <a:lnSpc>
                <a:spcPct val="90000"/>
              </a:lnSpc>
            </a:pPr>
            <a:r>
              <a:rPr lang="en-US" sz="2500"/>
              <a:t>Findings: </a:t>
            </a:r>
            <a:r>
              <a:rPr lang="en-US" sz="2500" err="1"/>
              <a:t>xgboost</a:t>
            </a:r>
            <a:r>
              <a:rPr lang="en-US" sz="2500"/>
              <a:t> model</a:t>
            </a:r>
            <a:br>
              <a:rPr lang="en-US" sz="2500"/>
            </a:br>
            <a:br>
              <a:rPr lang="en-US" sz="2500"/>
            </a:br>
            <a:r>
              <a:rPr lang="en-US" sz="2500"/>
              <a:t>confusion matrix</a:t>
            </a:r>
          </a:p>
        </p:txBody>
      </p:sp>
      <p:cxnSp>
        <p:nvCxnSpPr>
          <p:cNvPr id="39" name="Straight Connector 38">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B3DEDF8-34F6-447D-CFE3-D8AA45967033}"/>
              </a:ext>
            </a:extLst>
          </p:cNvPr>
          <p:cNvSpPr>
            <a:spLocks noGrp="1"/>
          </p:cNvSpPr>
          <p:nvPr>
            <p:ph idx="1"/>
          </p:nvPr>
        </p:nvSpPr>
        <p:spPr>
          <a:xfrm>
            <a:off x="704088" y="2387600"/>
            <a:ext cx="3799763" cy="3767328"/>
          </a:xfrm>
        </p:spPr>
        <p:txBody>
          <a:bodyPr vert="horz" lIns="91440" tIns="45720" rIns="91440" bIns="45720" rtlCol="0">
            <a:normAutofit/>
          </a:bodyPr>
          <a:lstStyle/>
          <a:p>
            <a:pPr marL="0" indent="0">
              <a:buNone/>
            </a:pPr>
            <a:endParaRPr lang="en-US" b="1"/>
          </a:p>
          <a:p>
            <a:pPr marL="457200" indent="-457200">
              <a:buFont typeface="Arial" panose="020B0604020202020204" pitchFamily="34" charset="0"/>
              <a:buAutoNum type="arabicPeriod"/>
            </a:pPr>
            <a:endParaRPr lang="en-US"/>
          </a:p>
          <a:p>
            <a:pPr marL="457200" indent="-457200">
              <a:buFont typeface="Arial" panose="020B0604020202020204" pitchFamily="34" charset="0"/>
              <a:buAutoNum type="arabicPeriod"/>
            </a:pPr>
            <a:endParaRPr lang="en-US"/>
          </a:p>
          <a:p>
            <a:pPr marL="914400" lvl="1" indent="-457200">
              <a:buFont typeface="Courier New" panose="020B0604020202020204" pitchFamily="34" charset="0"/>
              <a:buChar char="o"/>
            </a:pPr>
            <a:endParaRPr lang="en-US"/>
          </a:p>
          <a:p>
            <a:pPr marL="457200" lvl="1" indent="0">
              <a:buNone/>
            </a:pPr>
            <a:r>
              <a:rPr lang="en-US"/>
              <a:t> </a:t>
            </a:r>
          </a:p>
          <a:p>
            <a:pPr marL="0" indent="0">
              <a:buNone/>
            </a:pPr>
            <a:endParaRPr lang="en-US"/>
          </a:p>
        </p:txBody>
      </p:sp>
      <p:pic>
        <p:nvPicPr>
          <p:cNvPr id="4" name="Picture 3" descr="A blue squares with white text&#10;&#10;AI-generated content may be incorrect.">
            <a:extLst>
              <a:ext uri="{FF2B5EF4-FFF2-40B4-BE49-F238E27FC236}">
                <a16:creationId xmlns:a16="http://schemas.microsoft.com/office/drawing/2014/main" id="{820A569E-4A4C-0066-BA21-0A43FEE0D8BD}"/>
              </a:ext>
            </a:extLst>
          </p:cNvPr>
          <p:cNvPicPr>
            <a:picLocks noChangeAspect="1"/>
          </p:cNvPicPr>
          <p:nvPr/>
        </p:nvPicPr>
        <p:blipFill>
          <a:blip r:embed="rId2"/>
          <a:stretch>
            <a:fillRect/>
          </a:stretch>
        </p:blipFill>
        <p:spPr>
          <a:xfrm>
            <a:off x="5038073" y="664010"/>
            <a:ext cx="6343389" cy="5717870"/>
          </a:xfrm>
          <a:prstGeom prst="rect">
            <a:avLst/>
          </a:prstGeom>
        </p:spPr>
      </p:pic>
    </p:spTree>
    <p:extLst>
      <p:ext uri="{BB962C8B-B14F-4D97-AF65-F5344CB8AC3E}">
        <p14:creationId xmlns:p14="http://schemas.microsoft.com/office/powerpoint/2010/main" val="19234778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1F713-778A-40F0-57A0-C9AF92FC8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EA0F81-1B71-9FC1-15B2-AD3B87A6EF98}"/>
              </a:ext>
            </a:extLst>
          </p:cNvPr>
          <p:cNvSpPr>
            <a:spLocks noGrp="1"/>
          </p:cNvSpPr>
          <p:nvPr>
            <p:ph type="title"/>
          </p:nvPr>
        </p:nvSpPr>
        <p:spPr/>
        <p:txBody>
          <a:bodyPr/>
          <a:lstStyle/>
          <a:p>
            <a:r>
              <a:rPr lang="en-US"/>
              <a:t>conclusion</a:t>
            </a:r>
          </a:p>
        </p:txBody>
      </p:sp>
      <p:sp>
        <p:nvSpPr>
          <p:cNvPr id="3" name="Content Placeholder 2">
            <a:extLst>
              <a:ext uri="{FF2B5EF4-FFF2-40B4-BE49-F238E27FC236}">
                <a16:creationId xmlns:a16="http://schemas.microsoft.com/office/drawing/2014/main" id="{A704C615-E85F-0746-E457-483F100CB7D2}"/>
              </a:ext>
            </a:extLst>
          </p:cNvPr>
          <p:cNvSpPr>
            <a:spLocks noGrp="1"/>
          </p:cNvSpPr>
          <p:nvPr>
            <p:ph idx="1"/>
          </p:nvPr>
        </p:nvSpPr>
        <p:spPr>
          <a:xfrm>
            <a:off x="700635" y="1700075"/>
            <a:ext cx="10691265" cy="4261813"/>
          </a:xfrm>
        </p:spPr>
        <p:txBody>
          <a:bodyPr vert="horz" lIns="91440" tIns="45720" rIns="91440" bIns="45720" rtlCol="0" anchor="t">
            <a:noAutofit/>
          </a:bodyPr>
          <a:lstStyle/>
          <a:p>
            <a:pPr marL="457200" indent="-457200">
              <a:buFont typeface="Calibri" panose="020B0604020202020204" pitchFamily="34" charset="0"/>
              <a:buChar char="-"/>
            </a:pPr>
            <a:endParaRPr lang="en-US" sz="4000" b="1"/>
          </a:p>
          <a:p>
            <a:pPr marL="457200" indent="-457200">
              <a:buFont typeface="Calibri" panose="020B0604020202020204" pitchFamily="34" charset="0"/>
              <a:buChar char="-"/>
            </a:pPr>
            <a:r>
              <a:rPr lang="en-US" sz="3600" b="1"/>
              <a:t>Features predict cancer quite well</a:t>
            </a:r>
            <a:endParaRPr lang="en-US" sz="3600"/>
          </a:p>
          <a:p>
            <a:pPr marL="457200" indent="-457200">
              <a:buFont typeface="Calibri" panose="020B0604020202020204" pitchFamily="34" charset="0"/>
              <a:buChar char="-"/>
            </a:pPr>
            <a:endParaRPr lang="en-US" sz="3600" b="1"/>
          </a:p>
          <a:p>
            <a:pPr marL="457200" indent="-457200">
              <a:buFont typeface="Calibri" panose="020B0604020202020204" pitchFamily="34" charset="0"/>
              <a:buChar char="-"/>
            </a:pPr>
            <a:r>
              <a:rPr lang="en-US" sz="3600" b="1"/>
              <a:t>Best features varied by model</a:t>
            </a:r>
          </a:p>
          <a:p>
            <a:pPr marL="457200" indent="-457200">
              <a:buFont typeface="Calibri" panose="020B0604020202020204" pitchFamily="34" charset="0"/>
              <a:buChar char="-"/>
            </a:pPr>
            <a:endParaRPr lang="en-US" sz="3600" b="1"/>
          </a:p>
          <a:p>
            <a:pPr marL="457200" indent="-457200">
              <a:buFont typeface="Calibri" panose="020B0604020202020204" pitchFamily="34" charset="0"/>
              <a:buChar char="-"/>
            </a:pPr>
            <a:r>
              <a:rPr lang="en-US" sz="3600" b="1"/>
              <a:t>Best performance: </a:t>
            </a:r>
            <a:r>
              <a:rPr lang="en-US" sz="3600" b="1" err="1"/>
              <a:t>XGBoost</a:t>
            </a:r>
            <a:r>
              <a:rPr lang="en-US" sz="3600" b="1"/>
              <a:t> model </a:t>
            </a:r>
            <a:endParaRPr lang="en-US" sz="3600"/>
          </a:p>
          <a:p>
            <a:pPr marL="457200" indent="-457200">
              <a:buFont typeface="Calibri" panose="020B0604020202020204" pitchFamily="34" charset="0"/>
              <a:buChar char="-"/>
            </a:pPr>
            <a:endParaRPr lang="en-US" b="1"/>
          </a:p>
          <a:p>
            <a:pPr marL="457200" indent="-457200">
              <a:buFont typeface="Calibri" panose="020B0604020202020204" pitchFamily="34" charset="0"/>
              <a:buChar char="-"/>
            </a:pPr>
            <a:endParaRPr lang="en-US" b="1"/>
          </a:p>
          <a:p>
            <a:pPr marL="457200" indent="-457200">
              <a:buFont typeface="Calibri" panose="020B0604020202020204" pitchFamily="34" charset="0"/>
              <a:buChar char="-"/>
            </a:pPr>
            <a:endParaRPr lang="en-US"/>
          </a:p>
          <a:p>
            <a:pPr marL="457200" indent="-457200">
              <a:buFont typeface="Calibri" panose="020B0604020202020204" pitchFamily="34" charset="0"/>
              <a:buChar char="-"/>
            </a:pPr>
            <a:endParaRPr lang="en-US"/>
          </a:p>
          <a:p>
            <a:pPr marL="914400" lvl="1" indent="-457200">
              <a:buFont typeface="Courier New" panose="020B0604020202020204" pitchFamily="34" charset="0"/>
              <a:buChar char="o"/>
            </a:pPr>
            <a:endParaRPr lang="en-US"/>
          </a:p>
          <a:p>
            <a:pPr marL="457200" lvl="1" indent="0">
              <a:buNone/>
            </a:pPr>
            <a:r>
              <a:rPr lang="en-US"/>
              <a:t> </a:t>
            </a:r>
          </a:p>
          <a:p>
            <a:pPr marL="0" indent="0">
              <a:buNone/>
            </a:pPr>
            <a:endParaRPr lang="en-US"/>
          </a:p>
        </p:txBody>
      </p:sp>
    </p:spTree>
    <p:extLst>
      <p:ext uri="{BB962C8B-B14F-4D97-AF65-F5344CB8AC3E}">
        <p14:creationId xmlns:p14="http://schemas.microsoft.com/office/powerpoint/2010/main" val="6034688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843434-A2CB-2DFA-F284-D4A93290F56D}"/>
            </a:ext>
          </a:extLst>
        </p:cNvPr>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26" name="Picture 25">
            <a:extLst>
              <a:ext uri="{FF2B5EF4-FFF2-40B4-BE49-F238E27FC236}">
                <a16:creationId xmlns:a16="http://schemas.microsoft.com/office/drawing/2014/main" id="{08C0307B-EB91-5B04-CCDE-50B14959638F}"/>
              </a:ext>
            </a:extLst>
          </p:cNvPr>
          <p:cNvPicPr>
            <a:picLocks noChangeAspect="1"/>
          </p:cNvPicPr>
          <p:nvPr/>
        </p:nvPicPr>
        <p:blipFill>
          <a:blip r:embed="rId2"/>
          <a:srcRect t="26948" r="9091"/>
          <a:stretch>
            <a:fillRect/>
          </a:stretch>
        </p:blipFill>
        <p:spPr>
          <a:xfrm>
            <a:off x="20" y="10"/>
            <a:ext cx="12191979" cy="6857990"/>
          </a:xfrm>
          <a:prstGeom prst="rect">
            <a:avLst/>
          </a:prstGeom>
        </p:spPr>
      </p:pic>
      <p:sp>
        <p:nvSpPr>
          <p:cNvPr id="35" name="Rectangle 34">
            <a:extLst>
              <a:ext uri="{FF2B5EF4-FFF2-40B4-BE49-F238E27FC236}">
                <a16:creationId xmlns:a16="http://schemas.microsoft.com/office/drawing/2014/main" id="{D21F66AB-6D67-4C86-A415-0B6E4EEC5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3811" y="423809"/>
            <a:ext cx="6858002" cy="6010383"/>
          </a:xfrm>
          <a:prstGeom prst="rect">
            <a:avLst/>
          </a:prstGeom>
          <a:gradFill>
            <a:gsLst>
              <a:gs pos="0">
                <a:schemeClr val="bg1">
                  <a:alpha val="0"/>
                </a:schemeClr>
              </a:gs>
              <a:gs pos="46000">
                <a:schemeClr val="bg1">
                  <a:alpha val="31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6EBFDF8D-A2B9-7605-C7B9-6B94074962FB}"/>
              </a:ext>
            </a:extLst>
          </p:cNvPr>
          <p:cNvSpPr>
            <a:spLocks noGrp="1"/>
          </p:cNvSpPr>
          <p:nvPr>
            <p:ph type="ctrTitle"/>
          </p:nvPr>
        </p:nvSpPr>
        <p:spPr>
          <a:xfrm>
            <a:off x="3390815" y="3129337"/>
            <a:ext cx="5230366" cy="4005454"/>
          </a:xfrm>
        </p:spPr>
        <p:txBody>
          <a:bodyPr anchor="t">
            <a:normAutofit/>
          </a:bodyPr>
          <a:lstStyle/>
          <a:p>
            <a:r>
              <a:rPr lang="en-US" sz="6300"/>
              <a:t>Thank  YOU!!!</a:t>
            </a:r>
          </a:p>
        </p:txBody>
      </p:sp>
      <p:cxnSp>
        <p:nvCxnSpPr>
          <p:cNvPr id="37" name="Straight Connector 36">
            <a:extLst>
              <a:ext uri="{FF2B5EF4-FFF2-40B4-BE49-F238E27FC236}">
                <a16:creationId xmlns:a16="http://schemas.microsoft.com/office/drawing/2014/main" id="{0B66F5E1-B07D-4718-F4B4-5FCE4B7E8F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9006" y="727509"/>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037429"/>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26</Slides>
  <Notes>15</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ChronicleVTI</vt:lpstr>
      <vt:lpstr>Breast Cancer Predictions</vt:lpstr>
      <vt:lpstr>Agenda</vt:lpstr>
      <vt:lpstr>Introduction</vt:lpstr>
      <vt:lpstr>Data description</vt:lpstr>
      <vt:lpstr>Data description</vt:lpstr>
      <vt:lpstr>Data description</vt:lpstr>
      <vt:lpstr>Data Preparation</vt:lpstr>
      <vt:lpstr>Analysis methods </vt:lpstr>
      <vt:lpstr>Findings: Single input Model (Radius 1) logistic regression</vt:lpstr>
      <vt:lpstr>Findings: Single input model (radius 1)  confusion matrix</vt:lpstr>
      <vt:lpstr>Findings: Single input Model  (concave points 1)</vt:lpstr>
      <vt:lpstr>Findings: Single Model Input (concave points 1)  confusion matrix</vt:lpstr>
      <vt:lpstr>Multiple Input model: logistic regression</vt:lpstr>
      <vt:lpstr>Findings: Multiple Input model logistic regression</vt:lpstr>
      <vt:lpstr>Findings: multiple Input model  confusion matrix</vt:lpstr>
      <vt:lpstr>Findings: random forest model</vt:lpstr>
      <vt:lpstr>PowerPoint Presentation</vt:lpstr>
      <vt:lpstr>Findings: random forest model  confusion matrix</vt:lpstr>
      <vt:lpstr>xgboost model 1: all features</vt:lpstr>
      <vt:lpstr>PowerPoint Presentation</vt:lpstr>
      <vt:lpstr>xgboost model 1: 10 features</vt:lpstr>
      <vt:lpstr>PowerPoint Presentation</vt:lpstr>
      <vt:lpstr>Findings: xgboost model</vt:lpstr>
      <vt:lpstr>Findings: xgboost model  confusion matrix</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2025-11-27T23:10:16Z</dcterms:created>
  <dcterms:modified xsi:type="dcterms:W3CDTF">2025-12-09T02:10:59Z</dcterms:modified>
</cp:coreProperties>
</file>